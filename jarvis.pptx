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handoutMasterIdLst>
    <p:handoutMasterId r:id="rId13"/>
  </p:handoutMasterIdLst>
  <p:sldIdLst>
    <p:sldId id="256" r:id="rId2"/>
    <p:sldId id="257" r:id="rId3"/>
    <p:sldId id="268" r:id="rId4"/>
    <p:sldId id="275" r:id="rId5"/>
    <p:sldId id="280" r:id="rId6"/>
    <p:sldId id="281" r:id="rId7"/>
    <p:sldId id="282" r:id="rId8"/>
    <p:sldId id="265" r:id="rId9"/>
    <p:sldId id="283"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2C21AB6-B9ED-584A-A64E-4C7C26C07FA9}">
          <p14:sldIdLst>
            <p14:sldId id="256"/>
            <p14:sldId id="257"/>
            <p14:sldId id="268"/>
            <p14:sldId id="275"/>
            <p14:sldId id="280"/>
            <p14:sldId id="281"/>
            <p14:sldId id="282"/>
            <p14:sldId id="265"/>
            <p14:sldId id="283"/>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98" autoAdjust="0"/>
    <p:restoredTop sz="94660"/>
  </p:normalViewPr>
  <p:slideViewPr>
    <p:cSldViewPr snapToGrid="0">
      <p:cViewPr varScale="1">
        <p:scale>
          <a:sx n="110" d="100"/>
          <a:sy n="110" d="100"/>
        </p:scale>
        <p:origin x="2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EDB6A8-68DD-3537-6213-A441B6C8786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CC07729-4A01-B10E-6010-110640C2CAB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6DDEA4-190E-4095-9456-293A439BF9D4}" type="datetimeFigureOut">
              <a:rPr lang="en-US" smtClean="0"/>
              <a:t>6/21/26</a:t>
            </a:fld>
            <a:endParaRPr lang="en-US"/>
          </a:p>
        </p:txBody>
      </p:sp>
      <p:sp>
        <p:nvSpPr>
          <p:cNvPr id="4" name="Footer Placeholder 3">
            <a:extLst>
              <a:ext uri="{FF2B5EF4-FFF2-40B4-BE49-F238E27FC236}">
                <a16:creationId xmlns:a16="http://schemas.microsoft.com/office/drawing/2014/main" id="{9981F525-4265-CAF2-C8AF-76FA0D07AD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38E894F-3473-FA2C-7A7D-9CC6A248DB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0580143-5F7D-418D-BA77-441071448DAE}" type="slidenum">
              <a:rPr lang="en-US" smtClean="0"/>
              <a:t>‹#›</a:t>
            </a:fld>
            <a:endParaRPr lang="en-US"/>
          </a:p>
        </p:txBody>
      </p:sp>
    </p:spTree>
    <p:extLst>
      <p:ext uri="{BB962C8B-B14F-4D97-AF65-F5344CB8AC3E}">
        <p14:creationId xmlns:p14="http://schemas.microsoft.com/office/powerpoint/2010/main" val="13062380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D3A0AD-F7F8-4E22-8D44-7E72D8F4DC21}" type="datetimeFigureOut">
              <a:rPr lang="en-US" smtClean="0"/>
              <a:t>6/21/26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DB8199-D2EC-4256-A1CF-AE0073DA57EE}" type="slidenum">
              <a:rPr lang="en-US" smtClean="0"/>
              <a:t>‹#›</a:t>
            </a:fld>
            <a:endParaRPr lang="en-US"/>
          </a:p>
        </p:txBody>
      </p:sp>
    </p:spTree>
    <p:extLst>
      <p:ext uri="{BB962C8B-B14F-4D97-AF65-F5344CB8AC3E}">
        <p14:creationId xmlns:p14="http://schemas.microsoft.com/office/powerpoint/2010/main" val="105308405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C0C0-6246-6D64-1BCA-2CC007368D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83E821-2CB4-63D8-5F2B-61D8F18140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C4AABA-843B-C030-F497-BC25EA232644}"/>
              </a:ext>
            </a:extLst>
          </p:cNvPr>
          <p:cNvSpPr>
            <a:spLocks noGrp="1"/>
          </p:cNvSpPr>
          <p:nvPr>
            <p:ph type="dt" sz="half" idx="10"/>
          </p:nvPr>
        </p:nvSpPr>
        <p:spPr/>
        <p:txBody>
          <a:bodyPr/>
          <a:lstStyle/>
          <a:p>
            <a:fld id="{B4BC4C42-D1D2-48A6-888E-BB154087F9F6}" type="datetime1">
              <a:rPr lang="en-US" smtClean="0"/>
              <a:t>6/21/26</a:t>
            </a:fld>
            <a:endParaRPr lang="en-US"/>
          </a:p>
        </p:txBody>
      </p:sp>
      <p:sp>
        <p:nvSpPr>
          <p:cNvPr id="5" name="Footer Placeholder 4">
            <a:extLst>
              <a:ext uri="{FF2B5EF4-FFF2-40B4-BE49-F238E27FC236}">
                <a16:creationId xmlns:a16="http://schemas.microsoft.com/office/drawing/2014/main" id="{ECA74CE2-8C47-7561-36EB-D2AB5E93B2FB}"/>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1D7A5D3E-43A2-CA51-3190-55EBDA588C94}"/>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1438893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395C-729C-0E29-1E87-FD507C9673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4BB2F8-D2A3-0B7A-D1DC-8E7CFC308B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932ED-4DFB-79F9-B0E4-91851736F35A}"/>
              </a:ext>
            </a:extLst>
          </p:cNvPr>
          <p:cNvSpPr>
            <a:spLocks noGrp="1"/>
          </p:cNvSpPr>
          <p:nvPr>
            <p:ph type="dt" sz="half" idx="10"/>
          </p:nvPr>
        </p:nvSpPr>
        <p:spPr/>
        <p:txBody>
          <a:bodyPr/>
          <a:lstStyle/>
          <a:p>
            <a:fld id="{105BBFFB-78F7-45D0-B0F7-C9ABBFCC4691}" type="datetime1">
              <a:rPr lang="en-US" smtClean="0"/>
              <a:t>6/21/26</a:t>
            </a:fld>
            <a:endParaRPr lang="en-US"/>
          </a:p>
        </p:txBody>
      </p:sp>
      <p:sp>
        <p:nvSpPr>
          <p:cNvPr id="5" name="Footer Placeholder 4">
            <a:extLst>
              <a:ext uri="{FF2B5EF4-FFF2-40B4-BE49-F238E27FC236}">
                <a16:creationId xmlns:a16="http://schemas.microsoft.com/office/drawing/2014/main" id="{5E68C3B1-03BE-04C1-C089-130FECD0924B}"/>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7084B2D6-193B-FF8F-6422-89FC78529005}"/>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4243157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C8EE-7AEE-CCC8-FE4A-C7072A7596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A2AEBD-92C2-C82E-D5B7-F9329FFBE8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4640BE-4C2F-E7E5-23B8-92E966D5FAA4}"/>
              </a:ext>
            </a:extLst>
          </p:cNvPr>
          <p:cNvSpPr>
            <a:spLocks noGrp="1"/>
          </p:cNvSpPr>
          <p:nvPr>
            <p:ph type="dt" sz="half" idx="10"/>
          </p:nvPr>
        </p:nvSpPr>
        <p:spPr/>
        <p:txBody>
          <a:bodyPr/>
          <a:lstStyle/>
          <a:p>
            <a:fld id="{7277E951-9294-4411-ABD9-4F5B08EBC92B}" type="datetime1">
              <a:rPr lang="en-US" smtClean="0"/>
              <a:t>6/21/26</a:t>
            </a:fld>
            <a:endParaRPr lang="en-US"/>
          </a:p>
        </p:txBody>
      </p:sp>
      <p:sp>
        <p:nvSpPr>
          <p:cNvPr id="5" name="Footer Placeholder 4">
            <a:extLst>
              <a:ext uri="{FF2B5EF4-FFF2-40B4-BE49-F238E27FC236}">
                <a16:creationId xmlns:a16="http://schemas.microsoft.com/office/drawing/2014/main" id="{59EA6B0F-03B5-0A94-70B9-56D63FA6148F}"/>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8E3A9BF9-3D2B-04BF-6A86-6FDEC6087A0B}"/>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222953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1AB53-4074-02B7-91FE-D3BEDFDF5E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B8A6A9-D1D2-1409-612B-8DD65F6CE1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85B0A6-4FC4-FAA5-741C-3F23917DA7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810687-1A58-E358-4A07-8E078120DFB8}"/>
              </a:ext>
            </a:extLst>
          </p:cNvPr>
          <p:cNvSpPr>
            <a:spLocks noGrp="1"/>
          </p:cNvSpPr>
          <p:nvPr>
            <p:ph type="dt" sz="half" idx="10"/>
          </p:nvPr>
        </p:nvSpPr>
        <p:spPr/>
        <p:txBody>
          <a:bodyPr/>
          <a:lstStyle/>
          <a:p>
            <a:fld id="{E28634BB-C7C5-4027-9EC9-E3EB86FCAEF3}" type="datetime1">
              <a:rPr lang="en-US" smtClean="0"/>
              <a:t>6/21/26</a:t>
            </a:fld>
            <a:endParaRPr lang="en-US"/>
          </a:p>
        </p:txBody>
      </p:sp>
      <p:sp>
        <p:nvSpPr>
          <p:cNvPr id="6" name="Footer Placeholder 5">
            <a:extLst>
              <a:ext uri="{FF2B5EF4-FFF2-40B4-BE49-F238E27FC236}">
                <a16:creationId xmlns:a16="http://schemas.microsoft.com/office/drawing/2014/main" id="{D126CDF0-06B4-37E2-452E-73413A44A275}"/>
              </a:ext>
            </a:extLst>
          </p:cNvPr>
          <p:cNvSpPr>
            <a:spLocks noGrp="1"/>
          </p:cNvSpPr>
          <p:nvPr>
            <p:ph type="ftr" sz="quarter" idx="11"/>
          </p:nvPr>
        </p:nvSpPr>
        <p:spPr/>
        <p:txBody>
          <a:bodyPr/>
          <a:lstStyle/>
          <a:p>
            <a:r>
              <a:rPr lang="en-US"/>
              <a:t>CF Webtools      |      Omaha, NE</a:t>
            </a:r>
          </a:p>
        </p:txBody>
      </p:sp>
      <p:sp>
        <p:nvSpPr>
          <p:cNvPr id="7" name="Slide Number Placeholder 6">
            <a:extLst>
              <a:ext uri="{FF2B5EF4-FFF2-40B4-BE49-F238E27FC236}">
                <a16:creationId xmlns:a16="http://schemas.microsoft.com/office/drawing/2014/main" id="{C95F7D31-5A61-4052-0F04-7987429A8013}"/>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125365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A61ED-DC38-5D6F-DE72-C9CF74AFB9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636B26-EBF1-28D5-5841-40E294E0E0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8E75C6-03F9-FF50-2299-EAB1AB1A5F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C06273-4127-0647-0BE1-946E43BCF6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B60AAD-D86E-2C62-AB4B-8492D15BBB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011DAB-A045-0074-C3F4-0DF267F91F19}"/>
              </a:ext>
            </a:extLst>
          </p:cNvPr>
          <p:cNvSpPr>
            <a:spLocks noGrp="1"/>
          </p:cNvSpPr>
          <p:nvPr>
            <p:ph type="dt" sz="half" idx="10"/>
          </p:nvPr>
        </p:nvSpPr>
        <p:spPr/>
        <p:txBody>
          <a:bodyPr/>
          <a:lstStyle/>
          <a:p>
            <a:fld id="{640DA9FB-1B58-4ED0-93BA-D955084D1D32}" type="datetime1">
              <a:rPr lang="en-US" smtClean="0"/>
              <a:t>6/21/26</a:t>
            </a:fld>
            <a:endParaRPr lang="en-US"/>
          </a:p>
        </p:txBody>
      </p:sp>
      <p:sp>
        <p:nvSpPr>
          <p:cNvPr id="8" name="Footer Placeholder 7">
            <a:extLst>
              <a:ext uri="{FF2B5EF4-FFF2-40B4-BE49-F238E27FC236}">
                <a16:creationId xmlns:a16="http://schemas.microsoft.com/office/drawing/2014/main" id="{6770C9EA-738C-BEF5-9B75-50B4EF4E26DC}"/>
              </a:ext>
            </a:extLst>
          </p:cNvPr>
          <p:cNvSpPr>
            <a:spLocks noGrp="1"/>
          </p:cNvSpPr>
          <p:nvPr>
            <p:ph type="ftr" sz="quarter" idx="11"/>
          </p:nvPr>
        </p:nvSpPr>
        <p:spPr/>
        <p:txBody>
          <a:bodyPr/>
          <a:lstStyle/>
          <a:p>
            <a:r>
              <a:rPr lang="en-US"/>
              <a:t>CF Webtools      |      Omaha, NE</a:t>
            </a:r>
          </a:p>
        </p:txBody>
      </p:sp>
      <p:sp>
        <p:nvSpPr>
          <p:cNvPr id="9" name="Slide Number Placeholder 8">
            <a:extLst>
              <a:ext uri="{FF2B5EF4-FFF2-40B4-BE49-F238E27FC236}">
                <a16:creationId xmlns:a16="http://schemas.microsoft.com/office/drawing/2014/main" id="{A539A737-33DC-31E4-CFB8-25205C638E95}"/>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776660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90CE6-F447-20F9-D06D-142B952FA9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BAF70E-F18D-A944-5D3C-6F5C413491BA}"/>
              </a:ext>
            </a:extLst>
          </p:cNvPr>
          <p:cNvSpPr>
            <a:spLocks noGrp="1"/>
          </p:cNvSpPr>
          <p:nvPr>
            <p:ph type="dt" sz="half" idx="10"/>
          </p:nvPr>
        </p:nvSpPr>
        <p:spPr/>
        <p:txBody>
          <a:bodyPr/>
          <a:lstStyle/>
          <a:p>
            <a:fld id="{5271C941-E01D-4E80-8E0E-12B6D345AD24}" type="datetime1">
              <a:rPr lang="en-US" smtClean="0"/>
              <a:t>6/21/26</a:t>
            </a:fld>
            <a:endParaRPr lang="en-US"/>
          </a:p>
        </p:txBody>
      </p:sp>
      <p:sp>
        <p:nvSpPr>
          <p:cNvPr id="4" name="Footer Placeholder 3">
            <a:extLst>
              <a:ext uri="{FF2B5EF4-FFF2-40B4-BE49-F238E27FC236}">
                <a16:creationId xmlns:a16="http://schemas.microsoft.com/office/drawing/2014/main" id="{7004D756-6E24-F502-FCBB-AC46965DD9E0}"/>
              </a:ext>
            </a:extLst>
          </p:cNvPr>
          <p:cNvSpPr>
            <a:spLocks noGrp="1"/>
          </p:cNvSpPr>
          <p:nvPr>
            <p:ph type="ftr" sz="quarter" idx="11"/>
          </p:nvPr>
        </p:nvSpPr>
        <p:spPr/>
        <p:txBody>
          <a:bodyPr/>
          <a:lstStyle/>
          <a:p>
            <a:r>
              <a:rPr lang="en-US"/>
              <a:t>CF Webtools      |      Omaha, NE</a:t>
            </a:r>
          </a:p>
        </p:txBody>
      </p:sp>
      <p:sp>
        <p:nvSpPr>
          <p:cNvPr id="5" name="Slide Number Placeholder 4">
            <a:extLst>
              <a:ext uri="{FF2B5EF4-FFF2-40B4-BE49-F238E27FC236}">
                <a16:creationId xmlns:a16="http://schemas.microsoft.com/office/drawing/2014/main" id="{6CEE0B11-88F3-1D9B-1440-0B994D5748F8}"/>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2850142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2F300-9028-D0B5-9D6E-40F436E44FC8}"/>
              </a:ext>
            </a:extLst>
          </p:cNvPr>
          <p:cNvSpPr>
            <a:spLocks noGrp="1"/>
          </p:cNvSpPr>
          <p:nvPr>
            <p:ph type="dt" sz="half" idx="10"/>
          </p:nvPr>
        </p:nvSpPr>
        <p:spPr/>
        <p:txBody>
          <a:bodyPr/>
          <a:lstStyle/>
          <a:p>
            <a:fld id="{4F0F3D3D-20C8-4D64-A483-2C4C8EBC1BD9}" type="datetime1">
              <a:rPr lang="en-US" smtClean="0"/>
              <a:t>6/21/26</a:t>
            </a:fld>
            <a:endParaRPr lang="en-US"/>
          </a:p>
        </p:txBody>
      </p:sp>
      <p:sp>
        <p:nvSpPr>
          <p:cNvPr id="3" name="Footer Placeholder 2">
            <a:extLst>
              <a:ext uri="{FF2B5EF4-FFF2-40B4-BE49-F238E27FC236}">
                <a16:creationId xmlns:a16="http://schemas.microsoft.com/office/drawing/2014/main" id="{B03ADB80-BF6D-EDD6-533F-B1F1A49A1368}"/>
              </a:ext>
            </a:extLst>
          </p:cNvPr>
          <p:cNvSpPr>
            <a:spLocks noGrp="1"/>
          </p:cNvSpPr>
          <p:nvPr>
            <p:ph type="ftr" sz="quarter" idx="11"/>
          </p:nvPr>
        </p:nvSpPr>
        <p:spPr/>
        <p:txBody>
          <a:bodyPr/>
          <a:lstStyle/>
          <a:p>
            <a:r>
              <a:rPr lang="en-US"/>
              <a:t>CF Webtools      |      Omaha, NE</a:t>
            </a:r>
          </a:p>
        </p:txBody>
      </p:sp>
      <p:sp>
        <p:nvSpPr>
          <p:cNvPr id="4" name="Slide Number Placeholder 3">
            <a:extLst>
              <a:ext uri="{FF2B5EF4-FFF2-40B4-BE49-F238E27FC236}">
                <a16:creationId xmlns:a16="http://schemas.microsoft.com/office/drawing/2014/main" id="{C1E0187D-D374-EE8F-3FD2-6D2BC8ACEC53}"/>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829536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6EB7B-EE35-695F-285E-F50BB62064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ADE1D6-63FC-5D2C-7BF0-4A89903FB9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7F851C-FFBB-B61C-8CE6-EF4EC724A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8D67A2-566A-EAAD-3DE0-F8A59929843F}"/>
              </a:ext>
            </a:extLst>
          </p:cNvPr>
          <p:cNvSpPr>
            <a:spLocks noGrp="1"/>
          </p:cNvSpPr>
          <p:nvPr>
            <p:ph type="dt" sz="half" idx="10"/>
          </p:nvPr>
        </p:nvSpPr>
        <p:spPr/>
        <p:txBody>
          <a:bodyPr/>
          <a:lstStyle/>
          <a:p>
            <a:fld id="{3F4FD0B4-F151-47BF-95A6-DA20B44AE473}" type="datetime1">
              <a:rPr lang="en-US" smtClean="0"/>
              <a:t>6/21/26</a:t>
            </a:fld>
            <a:endParaRPr lang="en-US"/>
          </a:p>
        </p:txBody>
      </p:sp>
      <p:sp>
        <p:nvSpPr>
          <p:cNvPr id="6" name="Footer Placeholder 5">
            <a:extLst>
              <a:ext uri="{FF2B5EF4-FFF2-40B4-BE49-F238E27FC236}">
                <a16:creationId xmlns:a16="http://schemas.microsoft.com/office/drawing/2014/main" id="{85B517B0-FE37-29D0-D57C-CB374A437BAD}"/>
              </a:ext>
            </a:extLst>
          </p:cNvPr>
          <p:cNvSpPr>
            <a:spLocks noGrp="1"/>
          </p:cNvSpPr>
          <p:nvPr>
            <p:ph type="ftr" sz="quarter" idx="11"/>
          </p:nvPr>
        </p:nvSpPr>
        <p:spPr/>
        <p:txBody>
          <a:bodyPr/>
          <a:lstStyle/>
          <a:p>
            <a:r>
              <a:rPr lang="en-US"/>
              <a:t>CF Webtools      |      Omaha, NE</a:t>
            </a:r>
          </a:p>
        </p:txBody>
      </p:sp>
      <p:sp>
        <p:nvSpPr>
          <p:cNvPr id="7" name="Slide Number Placeholder 6">
            <a:extLst>
              <a:ext uri="{FF2B5EF4-FFF2-40B4-BE49-F238E27FC236}">
                <a16:creationId xmlns:a16="http://schemas.microsoft.com/office/drawing/2014/main" id="{BF46C1EF-373E-E24F-CE58-802A48E570AD}"/>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419183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21CB3-50A2-F3D8-DC3A-089123505F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65DB66-7CDB-9F89-63F9-9F1C59CB0B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8FD708-3260-11CF-F4AB-828E058B3F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ABB084-CCBF-19DC-6F8D-9661B5D7C441}"/>
              </a:ext>
            </a:extLst>
          </p:cNvPr>
          <p:cNvSpPr>
            <a:spLocks noGrp="1"/>
          </p:cNvSpPr>
          <p:nvPr>
            <p:ph type="dt" sz="half" idx="10"/>
          </p:nvPr>
        </p:nvSpPr>
        <p:spPr/>
        <p:txBody>
          <a:bodyPr/>
          <a:lstStyle/>
          <a:p>
            <a:fld id="{4B55E73E-FC96-4445-9331-78F7215BD613}" type="datetime1">
              <a:rPr lang="en-US" smtClean="0"/>
              <a:t>6/21/26</a:t>
            </a:fld>
            <a:endParaRPr lang="en-US"/>
          </a:p>
        </p:txBody>
      </p:sp>
      <p:sp>
        <p:nvSpPr>
          <p:cNvPr id="6" name="Footer Placeholder 5">
            <a:extLst>
              <a:ext uri="{FF2B5EF4-FFF2-40B4-BE49-F238E27FC236}">
                <a16:creationId xmlns:a16="http://schemas.microsoft.com/office/drawing/2014/main" id="{327F03DA-8D84-D8AA-5B4F-676CFC0B0824}"/>
              </a:ext>
            </a:extLst>
          </p:cNvPr>
          <p:cNvSpPr>
            <a:spLocks noGrp="1"/>
          </p:cNvSpPr>
          <p:nvPr>
            <p:ph type="ftr" sz="quarter" idx="11"/>
          </p:nvPr>
        </p:nvSpPr>
        <p:spPr/>
        <p:txBody>
          <a:bodyPr/>
          <a:lstStyle/>
          <a:p>
            <a:r>
              <a:rPr lang="en-US"/>
              <a:t>CF Webtools      |      Omaha, NE</a:t>
            </a:r>
          </a:p>
        </p:txBody>
      </p:sp>
      <p:sp>
        <p:nvSpPr>
          <p:cNvPr id="7" name="Slide Number Placeholder 6">
            <a:extLst>
              <a:ext uri="{FF2B5EF4-FFF2-40B4-BE49-F238E27FC236}">
                <a16:creationId xmlns:a16="http://schemas.microsoft.com/office/drawing/2014/main" id="{3F760540-8CF5-3FB7-B9D8-E595B4AAED63}"/>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3040386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55C9D-3CFF-AB0B-9F2A-3093748855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2EF016-E755-5A48-992A-7AA3600F42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4EB576-D1EE-8312-F17A-01BCBAB7C61B}"/>
              </a:ext>
            </a:extLst>
          </p:cNvPr>
          <p:cNvSpPr>
            <a:spLocks noGrp="1"/>
          </p:cNvSpPr>
          <p:nvPr>
            <p:ph type="dt" sz="half" idx="10"/>
          </p:nvPr>
        </p:nvSpPr>
        <p:spPr/>
        <p:txBody>
          <a:bodyPr/>
          <a:lstStyle/>
          <a:p>
            <a:fld id="{18316AE6-2325-49DB-B148-26330E2FD277}" type="datetime1">
              <a:rPr lang="en-US" smtClean="0"/>
              <a:t>6/21/26</a:t>
            </a:fld>
            <a:endParaRPr lang="en-US"/>
          </a:p>
        </p:txBody>
      </p:sp>
      <p:sp>
        <p:nvSpPr>
          <p:cNvPr id="5" name="Footer Placeholder 4">
            <a:extLst>
              <a:ext uri="{FF2B5EF4-FFF2-40B4-BE49-F238E27FC236}">
                <a16:creationId xmlns:a16="http://schemas.microsoft.com/office/drawing/2014/main" id="{0C25DB8F-7370-4045-899A-DC1D2143F7E7}"/>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F728A12C-661D-D7A8-FB3D-CA87473B2D4A}"/>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2365034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A5F5FF-3262-1ABA-4A98-DB9F226C8C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69D40F-85A2-086A-2F03-4EF8BA78EB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8DF0CB-33F7-4638-6E48-7F20C5008445}"/>
              </a:ext>
            </a:extLst>
          </p:cNvPr>
          <p:cNvSpPr>
            <a:spLocks noGrp="1"/>
          </p:cNvSpPr>
          <p:nvPr>
            <p:ph type="dt" sz="half" idx="10"/>
          </p:nvPr>
        </p:nvSpPr>
        <p:spPr/>
        <p:txBody>
          <a:bodyPr/>
          <a:lstStyle/>
          <a:p>
            <a:fld id="{6ECF08CB-49A1-43D4-9E9B-0DBBFBE54C08}" type="datetime1">
              <a:rPr lang="en-US" smtClean="0"/>
              <a:t>6/21/26</a:t>
            </a:fld>
            <a:endParaRPr lang="en-US"/>
          </a:p>
        </p:txBody>
      </p:sp>
      <p:sp>
        <p:nvSpPr>
          <p:cNvPr id="5" name="Footer Placeholder 4">
            <a:extLst>
              <a:ext uri="{FF2B5EF4-FFF2-40B4-BE49-F238E27FC236}">
                <a16:creationId xmlns:a16="http://schemas.microsoft.com/office/drawing/2014/main" id="{DFE56582-C86D-F1A9-49A7-3C3CBE9C50A1}"/>
              </a:ext>
            </a:extLst>
          </p:cNvPr>
          <p:cNvSpPr>
            <a:spLocks noGrp="1"/>
          </p:cNvSpPr>
          <p:nvPr>
            <p:ph type="ftr" sz="quarter" idx="11"/>
          </p:nvPr>
        </p:nvSpPr>
        <p:spPr/>
        <p:txBody>
          <a:bodyPr/>
          <a:lstStyle/>
          <a:p>
            <a:r>
              <a:rPr lang="en-US"/>
              <a:t>CF Webtools      |      Omaha, NE</a:t>
            </a:r>
          </a:p>
        </p:txBody>
      </p:sp>
      <p:sp>
        <p:nvSpPr>
          <p:cNvPr id="6" name="Slide Number Placeholder 5">
            <a:extLst>
              <a:ext uri="{FF2B5EF4-FFF2-40B4-BE49-F238E27FC236}">
                <a16:creationId xmlns:a16="http://schemas.microsoft.com/office/drawing/2014/main" id="{DB0C0C90-42DB-0911-E6D8-90472AFEC356}"/>
              </a:ext>
            </a:extLst>
          </p:cNvPr>
          <p:cNvSpPr>
            <a:spLocks noGrp="1"/>
          </p:cNvSpPr>
          <p:nvPr>
            <p:ph type="sldNum" sz="quarter" idx="12"/>
          </p:nvPr>
        </p:nvSpPr>
        <p:spPr/>
        <p:txBody>
          <a:bodyPr/>
          <a:lstStyle/>
          <a:p>
            <a:fld id="{914A60B4-844F-477C-B38E-A2977EEFAE90}" type="slidenum">
              <a:rPr lang="en-US" smtClean="0"/>
              <a:t>‹#›</a:t>
            </a:fld>
            <a:endParaRPr lang="en-US"/>
          </a:p>
        </p:txBody>
      </p:sp>
    </p:spTree>
    <p:extLst>
      <p:ext uri="{BB962C8B-B14F-4D97-AF65-F5344CB8AC3E}">
        <p14:creationId xmlns:p14="http://schemas.microsoft.com/office/powerpoint/2010/main" val="2641298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F08592-1AEE-6102-4B7D-78D8E97DE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527012-021F-42B1-5D79-285BACDC1C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F4194A-C04D-59D0-028C-742DED7BC4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644D5E-C3C0-4BE1-A478-33544A5F7BFF}" type="datetime1">
              <a:rPr lang="en-US" smtClean="0"/>
              <a:t>6/21/26</a:t>
            </a:fld>
            <a:endParaRPr lang="en-US"/>
          </a:p>
        </p:txBody>
      </p:sp>
      <p:sp>
        <p:nvSpPr>
          <p:cNvPr id="5" name="Footer Placeholder 4">
            <a:extLst>
              <a:ext uri="{FF2B5EF4-FFF2-40B4-BE49-F238E27FC236}">
                <a16:creationId xmlns:a16="http://schemas.microsoft.com/office/drawing/2014/main" id="{562F8422-54E3-2188-9D93-98178126A9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CF Webtools      |      Omaha, NE</a:t>
            </a:r>
          </a:p>
        </p:txBody>
      </p:sp>
      <p:sp>
        <p:nvSpPr>
          <p:cNvPr id="6" name="Slide Number Placeholder 5">
            <a:extLst>
              <a:ext uri="{FF2B5EF4-FFF2-40B4-BE49-F238E27FC236}">
                <a16:creationId xmlns:a16="http://schemas.microsoft.com/office/drawing/2014/main" id="{5068A0B4-F7B8-8514-4B1C-E4090F3DE3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4A60B4-844F-477C-B38E-A2977EEFAE90}" type="slidenum">
              <a:rPr lang="en-US" smtClean="0"/>
              <a:t>‹#›</a:t>
            </a:fld>
            <a:endParaRPr lang="en-US"/>
          </a:p>
        </p:txBody>
      </p:sp>
    </p:spTree>
    <p:extLst>
      <p:ext uri="{BB962C8B-B14F-4D97-AF65-F5344CB8AC3E}">
        <p14:creationId xmlns:p14="http://schemas.microsoft.com/office/powerpoint/2010/main" val="2367567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geektalk2004"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knittingguy"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mcpservers.org/"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mcpservers.org/servers/mark3labs/mcp-filesystem-server"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background with hexagons&#10;&#10;Description automatically generated">
            <a:extLst>
              <a:ext uri="{FF2B5EF4-FFF2-40B4-BE49-F238E27FC236}">
                <a16:creationId xmlns:a16="http://schemas.microsoft.com/office/drawing/2014/main" id="{57167341-08E4-3FAE-09CA-8A71930D4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AF1FBD9A-BC88-48B5-137F-AC54A2E234E0}"/>
              </a:ext>
            </a:extLst>
          </p:cNvPr>
          <p:cNvSpPr txBox="1"/>
          <p:nvPr/>
        </p:nvSpPr>
        <p:spPr>
          <a:xfrm>
            <a:off x="1542473" y="2844800"/>
            <a:ext cx="9596582" cy="2123658"/>
          </a:xfrm>
          <a:prstGeom prst="rect">
            <a:avLst/>
          </a:prstGeom>
          <a:noFill/>
        </p:spPr>
        <p:txBody>
          <a:bodyPr wrap="square" rtlCol="0">
            <a:spAutoFit/>
          </a:bodyPr>
          <a:lstStyle/>
          <a:p>
            <a:pPr algn="l"/>
            <a:r>
              <a:rPr lang="en-US" sz="4400" b="0" i="0" strike="noStrike" dirty="0">
                <a:solidFill>
                  <a:srgbClr val="444444"/>
                </a:solidFill>
                <a:effectLst/>
                <a:latin typeface="adobe-clean"/>
              </a:rPr>
              <a:t>How to create a "J.A.R.V.I.S." for your codebase using some of the new AI features in ColdFusion</a:t>
            </a:r>
          </a:p>
        </p:txBody>
      </p:sp>
      <p:sp>
        <p:nvSpPr>
          <p:cNvPr id="4" name="TextBox 3">
            <a:extLst>
              <a:ext uri="{FF2B5EF4-FFF2-40B4-BE49-F238E27FC236}">
                <a16:creationId xmlns:a16="http://schemas.microsoft.com/office/drawing/2014/main" id="{F702E54B-7D40-F5E7-567B-A3A643F3450B}"/>
              </a:ext>
            </a:extLst>
          </p:cNvPr>
          <p:cNvSpPr txBox="1"/>
          <p:nvPr/>
        </p:nvSpPr>
        <p:spPr>
          <a:xfrm>
            <a:off x="3196294" y="5231035"/>
            <a:ext cx="9596582" cy="523220"/>
          </a:xfrm>
          <a:prstGeom prst="rect">
            <a:avLst/>
          </a:prstGeom>
          <a:noFill/>
        </p:spPr>
        <p:txBody>
          <a:bodyPr wrap="square" rtlCol="0">
            <a:spAutoFit/>
          </a:bodyPr>
          <a:lstStyle/>
          <a:p>
            <a:pPr algn="ctr"/>
            <a:r>
              <a:rPr lang="en-US" sz="2800" dirty="0">
                <a:solidFill>
                  <a:srgbClr val="002060"/>
                </a:solidFill>
                <a:latin typeface="Roboto" panose="02000000000000000000" pitchFamily="2" charset="0"/>
                <a:ea typeface="Roboto" panose="02000000000000000000" pitchFamily="2" charset="0"/>
              </a:rPr>
              <a:t>Presented by: Monte Chan</a:t>
            </a:r>
          </a:p>
        </p:txBody>
      </p:sp>
    </p:spTree>
    <p:extLst>
      <p:ext uri="{BB962C8B-B14F-4D97-AF65-F5344CB8AC3E}">
        <p14:creationId xmlns:p14="http://schemas.microsoft.com/office/powerpoint/2010/main" val="435456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715E08-146D-0759-2720-E84D70786BC1}"/>
              </a:ext>
            </a:extLst>
          </p:cNvPr>
          <p:cNvPicPr>
            <a:picLocks noChangeAspect="1"/>
          </p:cNvPicPr>
          <p:nvPr/>
        </p:nvPicPr>
        <p:blipFill>
          <a:blip r:embed="rId2"/>
          <a:stretch>
            <a:fillRect/>
          </a:stretch>
        </p:blipFill>
        <p:spPr>
          <a:xfrm>
            <a:off x="-11151" y="0"/>
            <a:ext cx="12188952" cy="6858000"/>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Freeform: Shape 1">
            <a:extLst>
              <a:ext uri="{FF2B5EF4-FFF2-40B4-BE49-F238E27FC236}">
                <a16:creationId xmlns:a16="http://schemas.microsoft.com/office/drawing/2014/main" id="{6DAD8027-1835-30F1-2138-FEEFB4294F4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9E3EEE10-82D5-87E4-5878-1CDBB4D30E23}"/>
              </a:ext>
            </a:extLst>
          </p:cNvPr>
          <p:cNvSpPr txBox="1"/>
          <p:nvPr/>
        </p:nvSpPr>
        <p:spPr>
          <a:xfrm>
            <a:off x="566057" y="572220"/>
            <a:ext cx="3302558" cy="523220"/>
          </a:xfrm>
          <a:prstGeom prst="rect">
            <a:avLst/>
          </a:prstGeom>
          <a:noFill/>
        </p:spPr>
        <p:txBody>
          <a:bodyPr wrap="square" rtlCol="0">
            <a:spAutoFit/>
          </a:bodyPr>
          <a:lstStyle/>
          <a:p>
            <a:r>
              <a:rPr lang="en-US" sz="2800" dirty="0"/>
              <a:t>Who is Monte Chan?</a:t>
            </a:r>
          </a:p>
        </p:txBody>
      </p:sp>
      <p:sp>
        <p:nvSpPr>
          <p:cNvPr id="5" name="TextBox 4">
            <a:extLst>
              <a:ext uri="{FF2B5EF4-FFF2-40B4-BE49-F238E27FC236}">
                <a16:creationId xmlns:a16="http://schemas.microsoft.com/office/drawing/2014/main" id="{EF36D861-DF68-5C6D-8119-18A5814B2A68}"/>
              </a:ext>
            </a:extLst>
          </p:cNvPr>
          <p:cNvSpPr txBox="1"/>
          <p:nvPr/>
        </p:nvSpPr>
        <p:spPr>
          <a:xfrm>
            <a:off x="675249" y="1567027"/>
            <a:ext cx="11015003"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Senior ColdFusion Developer at Shoes For Crews</a:t>
            </a:r>
          </a:p>
          <a:p>
            <a:pPr marL="285750" indent="-285750">
              <a:buFont typeface="Arial" panose="020B0604020202020204" pitchFamily="34" charset="0"/>
              <a:buChar char="•"/>
            </a:pPr>
            <a:r>
              <a:rPr lang="en-US" sz="2400" dirty="0"/>
              <a:t>Has used ColdFusion since version 4.5 back in 1999</a:t>
            </a:r>
          </a:p>
          <a:p>
            <a:pPr marL="285750" indent="-285750">
              <a:buFont typeface="Arial" panose="020B0604020202020204" pitchFamily="34" charset="0"/>
              <a:buChar char="•"/>
            </a:pPr>
            <a:r>
              <a:rPr lang="en-US" sz="2400" dirty="0"/>
              <a:t>Has developed web applications which were used in different industries (ex. Health insurance, education, </a:t>
            </a:r>
            <a:r>
              <a:rPr lang="en-US" sz="2400" dirty="0" err="1"/>
              <a:t>finTech</a:t>
            </a:r>
            <a:r>
              <a:rPr lang="en-US" sz="2400" dirty="0"/>
              <a:t>, e-commerce…etc.) </a:t>
            </a:r>
          </a:p>
          <a:p>
            <a:pPr marL="285750" indent="-285750">
              <a:buFont typeface="Arial" panose="020B0604020202020204" pitchFamily="34" charset="0"/>
              <a:buChar char="•"/>
            </a:pPr>
            <a:r>
              <a:rPr lang="en-US" sz="2400" dirty="0"/>
              <a:t>Was one of the co-managers of Alamo ColdFusion User Group</a:t>
            </a:r>
          </a:p>
          <a:p>
            <a:pPr marL="285750" indent="-285750">
              <a:buFont typeface="Arial" panose="020B0604020202020204" pitchFamily="34" charset="0"/>
              <a:buChar char="•"/>
            </a:pPr>
            <a:r>
              <a:rPr lang="en-US" sz="2400" dirty="0"/>
              <a:t>Has a </a:t>
            </a:r>
            <a:r>
              <a:rPr lang="en-US" sz="2400" dirty="0" err="1"/>
              <a:t>youTube</a:t>
            </a:r>
            <a:r>
              <a:rPr lang="en-US" sz="2400" dirty="0"/>
              <a:t> channel, Geek Talk. </a:t>
            </a:r>
            <a:r>
              <a:rPr lang="en-US" sz="2400" dirty="0">
                <a:hlinkClick r:id="rId3"/>
              </a:rPr>
              <a:t>https://www.youtube.com/@geektalk2004</a:t>
            </a:r>
            <a:endParaRPr lang="en-US" sz="2400" dirty="0"/>
          </a:p>
          <a:p>
            <a:pPr marL="285750" indent="-285750">
              <a:buFont typeface="Arial" panose="020B0604020202020204" pitchFamily="34" charset="0"/>
              <a:buChar char="•"/>
            </a:pPr>
            <a:r>
              <a:rPr lang="en-US" sz="2400" dirty="0"/>
              <a:t>On different social media platforms but mostly on Facebook.  You can find me on Facebook at https://</a:t>
            </a:r>
            <a:r>
              <a:rPr lang="en-US" sz="2400" dirty="0" err="1"/>
              <a:t>www.facebook.com</a:t>
            </a:r>
            <a:r>
              <a:rPr lang="en-US" sz="2400" dirty="0"/>
              <a:t>/</a:t>
            </a:r>
            <a:r>
              <a:rPr lang="en-US" sz="2400" dirty="0" err="1"/>
              <a:t>monte.chan</a:t>
            </a:r>
            <a:r>
              <a:rPr lang="en-US" sz="2400" dirty="0"/>
              <a:t>/</a:t>
            </a:r>
          </a:p>
          <a:p>
            <a:pPr marL="285750" indent="-285750">
              <a:buFont typeface="Arial" panose="020B0604020202020204" pitchFamily="34" charset="0"/>
              <a:buChar char="•"/>
            </a:pPr>
            <a:r>
              <a:rPr lang="en-US" sz="2400" dirty="0"/>
              <a:t>You can email me at </a:t>
            </a:r>
            <a:r>
              <a:rPr lang="en-US" sz="2400" dirty="0" err="1"/>
              <a:t>monte@monteandjanicechan.com</a:t>
            </a:r>
            <a:r>
              <a:rPr lang="en-US" sz="2400" dirty="0"/>
              <a:t> but you may get a quicker response if you send me a message in Facebook Messenger.</a:t>
            </a:r>
          </a:p>
        </p:txBody>
      </p:sp>
    </p:spTree>
    <p:extLst>
      <p:ext uri="{BB962C8B-B14F-4D97-AF65-F5344CB8AC3E}">
        <p14:creationId xmlns:p14="http://schemas.microsoft.com/office/powerpoint/2010/main" val="2885452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715E08-146D-0759-2720-E84D70786BC1}"/>
              </a:ext>
            </a:extLst>
          </p:cNvPr>
          <p:cNvPicPr>
            <a:picLocks noChangeAspect="1"/>
          </p:cNvPicPr>
          <p:nvPr/>
        </p:nvPicPr>
        <p:blipFill>
          <a:blip r:embed="rId2"/>
          <a:stretch>
            <a:fillRect/>
          </a:stretch>
        </p:blipFill>
        <p:spPr>
          <a:xfrm>
            <a:off x="-11151" y="0"/>
            <a:ext cx="12188952" cy="6858000"/>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BB1C0603-8047-1EA8-656C-93CC9FF56BB4}"/>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a:t>
            </a:r>
          </a:p>
        </p:txBody>
      </p:sp>
      <p:sp>
        <p:nvSpPr>
          <p:cNvPr id="2" name="Freeform: Shape 1">
            <a:extLst>
              <a:ext uri="{FF2B5EF4-FFF2-40B4-BE49-F238E27FC236}">
                <a16:creationId xmlns:a16="http://schemas.microsoft.com/office/drawing/2014/main" id="{6DAD8027-1835-30F1-2138-FEEFB4294F4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9E3EEE10-82D5-87E4-5878-1CDBB4D30E23}"/>
              </a:ext>
            </a:extLst>
          </p:cNvPr>
          <p:cNvSpPr txBox="1"/>
          <p:nvPr/>
        </p:nvSpPr>
        <p:spPr>
          <a:xfrm>
            <a:off x="566057" y="572220"/>
            <a:ext cx="3302558" cy="523220"/>
          </a:xfrm>
          <a:prstGeom prst="rect">
            <a:avLst/>
          </a:prstGeom>
          <a:noFill/>
        </p:spPr>
        <p:txBody>
          <a:bodyPr wrap="square" rtlCol="0">
            <a:spAutoFit/>
          </a:bodyPr>
          <a:lstStyle/>
          <a:p>
            <a:r>
              <a:rPr lang="en-US" sz="2800" dirty="0"/>
              <a:t>Before we begin…</a:t>
            </a:r>
          </a:p>
        </p:txBody>
      </p:sp>
      <p:sp>
        <p:nvSpPr>
          <p:cNvPr id="5" name="TextBox 4">
            <a:extLst>
              <a:ext uri="{FF2B5EF4-FFF2-40B4-BE49-F238E27FC236}">
                <a16:creationId xmlns:a16="http://schemas.microsoft.com/office/drawing/2014/main" id="{EF36D861-DF68-5C6D-8119-18A5814B2A68}"/>
              </a:ext>
            </a:extLst>
          </p:cNvPr>
          <p:cNvSpPr txBox="1"/>
          <p:nvPr/>
        </p:nvSpPr>
        <p:spPr>
          <a:xfrm>
            <a:off x="675249" y="1567027"/>
            <a:ext cx="11015003"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presentation slides will be uploaded to my </a:t>
            </a:r>
            <a:r>
              <a:rPr lang="en-US" sz="2400" dirty="0" err="1"/>
              <a:t>Github</a:t>
            </a:r>
            <a:r>
              <a:rPr lang="en-US" sz="2400" dirty="0"/>
              <a:t> account at </a:t>
            </a:r>
            <a:r>
              <a:rPr lang="en-US" sz="2400" dirty="0">
                <a:hlinkClick r:id="rId3"/>
              </a:rPr>
              <a:t>https://github.com/knittingguy</a:t>
            </a:r>
            <a:endParaRPr lang="en-US" sz="2400" dirty="0"/>
          </a:p>
          <a:p>
            <a:pPr marL="285750" indent="-285750">
              <a:buFont typeface="Arial" panose="020B0604020202020204" pitchFamily="34" charset="0"/>
              <a:buChar char="•"/>
            </a:pPr>
            <a:r>
              <a:rPr lang="en-US" sz="2400" dirty="0"/>
              <a:t>Inspiration:  </a:t>
            </a:r>
            <a:r>
              <a:rPr lang="en-US" sz="2400" dirty="0" err="1"/>
              <a:t>Github</a:t>
            </a:r>
            <a:r>
              <a:rPr lang="en-US" sz="2400" dirty="0"/>
              <a:t> </a:t>
            </a:r>
            <a:r>
              <a:rPr lang="en-US" sz="2400" dirty="0" err="1"/>
              <a:t>CodeQL</a:t>
            </a:r>
            <a:r>
              <a:rPr lang="en-US" sz="2400" dirty="0"/>
              <a:t> – semantic search on your codebase.  Treating your codebase as data.  Combining the AI chat capabilities with your codebase.  Essentially, it is a poor man version of J.A.R.V.I.S. on your codebase.  </a:t>
            </a:r>
          </a:p>
          <a:p>
            <a:pPr marL="285750" indent="-285750">
              <a:buFont typeface="Arial" panose="020B0604020202020204" pitchFamily="34" charset="0"/>
              <a:buChar char="•"/>
            </a:pPr>
            <a:r>
              <a:rPr lang="en-US" sz="2400" dirty="0"/>
              <a:t>“With great power comes … great self-indulgence.” --- Ben Nadel</a:t>
            </a:r>
          </a:p>
          <a:p>
            <a:endParaRPr lang="en-US" sz="2400" dirty="0"/>
          </a:p>
        </p:txBody>
      </p:sp>
    </p:spTree>
    <p:extLst>
      <p:ext uri="{BB962C8B-B14F-4D97-AF65-F5344CB8AC3E}">
        <p14:creationId xmlns:p14="http://schemas.microsoft.com/office/powerpoint/2010/main" val="3212058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30EB7F-C55B-6176-476A-12CF24B64E17}"/>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56A4C503-754C-F836-01FF-8441F9802EC0}"/>
              </a:ext>
            </a:extLst>
          </p:cNvPr>
          <p:cNvPicPr>
            <a:picLocks noChangeAspect="1"/>
          </p:cNvPicPr>
          <p:nvPr/>
        </p:nvPicPr>
        <p:blipFill>
          <a:blip r:embed="rId2"/>
          <a:stretch>
            <a:fillRect/>
          </a:stretch>
        </p:blipFill>
        <p:spPr>
          <a:xfrm>
            <a:off x="-11151" y="-6271"/>
            <a:ext cx="12188952" cy="6864271"/>
          </a:xfrm>
          <a:prstGeom prst="rect">
            <a:avLst/>
          </a:prstGeom>
        </p:spPr>
      </p:pic>
      <p:sp>
        <p:nvSpPr>
          <p:cNvPr id="10" name="Rectangle 9">
            <a:extLst>
              <a:ext uri="{FF2B5EF4-FFF2-40B4-BE49-F238E27FC236}">
                <a16:creationId xmlns:a16="http://schemas.microsoft.com/office/drawing/2014/main" id="{CFE8CFDD-9079-B347-F4CB-9B6B03484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33A906F5-05BA-178E-74E3-33673F75239E}"/>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a:t>
            </a:r>
          </a:p>
        </p:txBody>
      </p:sp>
      <p:sp>
        <p:nvSpPr>
          <p:cNvPr id="2" name="Freeform: Shape 1">
            <a:extLst>
              <a:ext uri="{FF2B5EF4-FFF2-40B4-BE49-F238E27FC236}">
                <a16:creationId xmlns:a16="http://schemas.microsoft.com/office/drawing/2014/main" id="{B1EFF4A9-A25C-8066-1704-6A9C62D39910}"/>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566E780-707B-DF0F-6D9C-7CBE09010419}"/>
              </a:ext>
            </a:extLst>
          </p:cNvPr>
          <p:cNvSpPr txBox="1"/>
          <p:nvPr/>
        </p:nvSpPr>
        <p:spPr>
          <a:xfrm>
            <a:off x="462987" y="572220"/>
            <a:ext cx="11100122" cy="7017306"/>
          </a:xfrm>
          <a:prstGeom prst="rect">
            <a:avLst/>
          </a:prstGeom>
          <a:noFill/>
        </p:spPr>
        <p:txBody>
          <a:bodyPr wrap="square" rtlCol="0">
            <a:spAutoFit/>
          </a:bodyPr>
          <a:lstStyle/>
          <a:p>
            <a:r>
              <a:rPr lang="en-US" sz="2400" dirty="0"/>
              <a:t>What you need</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A codebase </a:t>
            </a:r>
          </a:p>
          <a:p>
            <a:pPr marL="285750" indent="-285750">
              <a:buFont typeface="Arial" panose="020B0604020202020204" pitchFamily="34" charset="0"/>
              <a:buChar char="•"/>
            </a:pPr>
            <a:r>
              <a:rPr lang="en-US" sz="2400" dirty="0"/>
              <a:t>ColdFusion 2025 Update 8</a:t>
            </a:r>
          </a:p>
          <a:p>
            <a:pPr marL="285750" indent="-285750">
              <a:buFont typeface="Arial" panose="020B0604020202020204" pitchFamily="34" charset="0"/>
              <a:buChar char="•"/>
            </a:pPr>
            <a:r>
              <a:rPr lang="en-US" sz="2400" dirty="0"/>
              <a:t>Vector store (</a:t>
            </a:r>
            <a:r>
              <a:rPr lang="en-US" sz="2400" dirty="0" err="1"/>
              <a:t>Qdrant</a:t>
            </a:r>
            <a:r>
              <a:rPr lang="en-US" sz="2400" dirty="0"/>
              <a:t>, Milvus, Pinecone, or Chroma)</a:t>
            </a:r>
          </a:p>
          <a:p>
            <a:pPr marL="742950" lvl="1" indent="-285750">
              <a:buFont typeface="Arial" panose="020B0604020202020204" pitchFamily="34" charset="0"/>
              <a:buChar char="•"/>
            </a:pPr>
            <a:r>
              <a:rPr lang="en-US" sz="2400" dirty="0"/>
              <a:t>While CF 2025 supports </a:t>
            </a:r>
            <a:r>
              <a:rPr lang="en-US" sz="2400" dirty="0" err="1"/>
              <a:t>inmemory</a:t>
            </a:r>
            <a:r>
              <a:rPr lang="en-US" sz="2400" dirty="0"/>
              <a:t>, a codebase is too much information to be stored in memory </a:t>
            </a:r>
          </a:p>
          <a:p>
            <a:pPr marL="285750" indent="-285750">
              <a:buFont typeface="Arial" panose="020B0604020202020204" pitchFamily="34" charset="0"/>
              <a:buChar char="•"/>
            </a:pPr>
            <a:r>
              <a:rPr lang="en-US" sz="2400" dirty="0"/>
              <a:t>LLM</a:t>
            </a:r>
          </a:p>
          <a:p>
            <a:pPr marL="285750" indent="-285750">
              <a:buFont typeface="Arial" panose="020B0604020202020204" pitchFamily="34" charset="0"/>
              <a:buChar char="•"/>
            </a:pPr>
            <a:r>
              <a:rPr lang="en-US" sz="2400" dirty="0"/>
              <a:t>Script to ingest the codebase in a vector store.</a:t>
            </a:r>
          </a:p>
          <a:p>
            <a:pPr marL="742950" lvl="1" indent="-285750">
              <a:buFont typeface="Arial" panose="020B0604020202020204" pitchFamily="34" charset="0"/>
              <a:buChar char="•"/>
            </a:pPr>
            <a:r>
              <a:rPr lang="en-US" sz="2400" dirty="0"/>
              <a:t>CF 2025 has the ability to ingest different documents.  However, it cannot ingest cfc or </a:t>
            </a:r>
            <a:r>
              <a:rPr lang="en-US" sz="2400" dirty="0" err="1"/>
              <a:t>cfml</a:t>
            </a:r>
            <a:r>
              <a:rPr lang="en-US" sz="2400" dirty="0"/>
              <a:t> files yet.</a:t>
            </a:r>
          </a:p>
          <a:p>
            <a:pPr marL="285750" indent="-285750">
              <a:buFont typeface="Arial" panose="020B0604020202020204" pitchFamily="34" charset="0"/>
              <a:buChar char="•"/>
            </a:pPr>
            <a:r>
              <a:rPr lang="en-US" sz="2400" dirty="0"/>
              <a:t>MCP (optional)</a:t>
            </a:r>
          </a:p>
          <a:p>
            <a:pPr marL="742950" lvl="1" indent="-285750">
              <a:buFont typeface="Arial" panose="020B0604020202020204" pitchFamily="34" charset="0"/>
              <a:buChar char="•"/>
            </a:pPr>
            <a:r>
              <a:rPr lang="en-US" sz="2400" dirty="0"/>
              <a:t>Depending on the kind of information you may want to know, if you want to know information on the file level, you may need a MCP with access to the file information and return them to you.</a:t>
            </a:r>
          </a:p>
          <a:p>
            <a:endParaRPr lang="en-US" sz="2400" dirty="0"/>
          </a:p>
          <a:p>
            <a:pPr lvl="1"/>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265656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ACDD77-074D-B497-3DCC-1F970C3EC634}"/>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DB6BCF8E-2D86-A22F-3A5D-3032FBD0E478}"/>
              </a:ext>
            </a:extLst>
          </p:cNvPr>
          <p:cNvPicPr>
            <a:picLocks noChangeAspect="1"/>
          </p:cNvPicPr>
          <p:nvPr/>
        </p:nvPicPr>
        <p:blipFill>
          <a:blip r:embed="rId2"/>
          <a:stretch>
            <a:fillRect/>
          </a:stretch>
        </p:blipFill>
        <p:spPr>
          <a:xfrm>
            <a:off x="-11151" y="-6271"/>
            <a:ext cx="12188952" cy="6864271"/>
          </a:xfrm>
          <a:prstGeom prst="rect">
            <a:avLst/>
          </a:prstGeom>
        </p:spPr>
      </p:pic>
      <p:sp>
        <p:nvSpPr>
          <p:cNvPr id="10" name="Rectangle 9">
            <a:extLst>
              <a:ext uri="{FF2B5EF4-FFF2-40B4-BE49-F238E27FC236}">
                <a16:creationId xmlns:a16="http://schemas.microsoft.com/office/drawing/2014/main" id="{0DA2AD64-C519-4512-C5E6-8829BE962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0EBE153E-E3B0-59CC-C25A-5605B1080D4F}"/>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a:t>
            </a:r>
          </a:p>
        </p:txBody>
      </p:sp>
      <p:sp>
        <p:nvSpPr>
          <p:cNvPr id="2" name="Freeform: Shape 1">
            <a:extLst>
              <a:ext uri="{FF2B5EF4-FFF2-40B4-BE49-F238E27FC236}">
                <a16:creationId xmlns:a16="http://schemas.microsoft.com/office/drawing/2014/main" id="{DD656C1C-7E04-1309-ACC8-735E1BDC6A54}"/>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7DDAF17-4F15-D220-62B5-7D8BE8435D46}"/>
              </a:ext>
            </a:extLst>
          </p:cNvPr>
          <p:cNvSpPr txBox="1"/>
          <p:nvPr/>
        </p:nvSpPr>
        <p:spPr>
          <a:xfrm>
            <a:off x="462987" y="572220"/>
            <a:ext cx="11100122" cy="3693319"/>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MCP (continued)</a:t>
            </a:r>
          </a:p>
          <a:p>
            <a:pPr marL="742950" lvl="1" indent="-285750">
              <a:buFont typeface="Arial" panose="020B0604020202020204" pitchFamily="34" charset="0"/>
              <a:buChar char="•"/>
            </a:pPr>
            <a:r>
              <a:rPr lang="en-US" sz="2400" dirty="0"/>
              <a:t>MCP server list </a:t>
            </a:r>
            <a:r>
              <a:rPr lang="en-US" sz="2400" dirty="0">
                <a:hlinkClick r:id="rId3"/>
              </a:rPr>
              <a:t>https://mcpservers.org/</a:t>
            </a:r>
            <a:endParaRPr lang="en-US" sz="2400" dirty="0"/>
          </a:p>
          <a:p>
            <a:pPr marL="742950" lvl="1" indent="-285750">
              <a:buFont typeface="Arial" panose="020B0604020202020204" pitchFamily="34" charset="0"/>
              <a:buChar char="•"/>
            </a:pPr>
            <a:r>
              <a:rPr lang="en-US" sz="2400" dirty="0"/>
              <a:t>For example, </a:t>
            </a:r>
            <a:r>
              <a:rPr lang="en-US" sz="2400" dirty="0">
                <a:hlinkClick r:id="rId4"/>
              </a:rPr>
              <a:t>https://mcpservers.org/servers/mark3labs/mcp-filesystem-server</a:t>
            </a:r>
            <a:endParaRPr lang="en-US" sz="2400" dirty="0"/>
          </a:p>
          <a:p>
            <a:pPr marL="742950" lvl="1" indent="-285750">
              <a:buFont typeface="Arial" panose="020B0604020202020204" pitchFamily="34" charset="0"/>
              <a:buChar char="•"/>
            </a:pPr>
            <a:endParaRPr lang="en-US" sz="2400" dirty="0"/>
          </a:p>
          <a:p>
            <a:pPr marL="742950" lvl="1" indent="-285750">
              <a:buFont typeface="Arial" panose="020B0604020202020204" pitchFamily="34" charset="0"/>
              <a:buChar char="•"/>
            </a:pPr>
            <a:endParaRPr lang="en-US" sz="2400" dirty="0"/>
          </a:p>
          <a:p>
            <a:endParaRPr lang="en-US" sz="2400" dirty="0"/>
          </a:p>
          <a:p>
            <a:pPr lvl="1"/>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36684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C8F673-4CCB-2A3F-6B76-9D43763DBBC1}"/>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55678A6E-C105-66F0-EAFE-D4338F2DC027}"/>
              </a:ext>
            </a:extLst>
          </p:cNvPr>
          <p:cNvPicPr>
            <a:picLocks noChangeAspect="1"/>
          </p:cNvPicPr>
          <p:nvPr/>
        </p:nvPicPr>
        <p:blipFill>
          <a:blip r:embed="rId2"/>
          <a:stretch>
            <a:fillRect/>
          </a:stretch>
        </p:blipFill>
        <p:spPr>
          <a:xfrm>
            <a:off x="-11151" y="-6271"/>
            <a:ext cx="12188952" cy="6864271"/>
          </a:xfrm>
          <a:prstGeom prst="rect">
            <a:avLst/>
          </a:prstGeom>
        </p:spPr>
      </p:pic>
      <p:sp>
        <p:nvSpPr>
          <p:cNvPr id="10" name="Rectangle 9">
            <a:extLst>
              <a:ext uri="{FF2B5EF4-FFF2-40B4-BE49-F238E27FC236}">
                <a16:creationId xmlns:a16="http://schemas.microsoft.com/office/drawing/2014/main" id="{2FB3C455-F41F-5B4D-C779-E672F512D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8C615996-C118-1838-FCB1-0D027E0D5B41}"/>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a:t>
            </a:r>
          </a:p>
        </p:txBody>
      </p:sp>
      <p:sp>
        <p:nvSpPr>
          <p:cNvPr id="2" name="Freeform: Shape 1">
            <a:extLst>
              <a:ext uri="{FF2B5EF4-FFF2-40B4-BE49-F238E27FC236}">
                <a16:creationId xmlns:a16="http://schemas.microsoft.com/office/drawing/2014/main" id="{411D29B7-B379-F6C8-D4C2-90412C89DC0D}"/>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CC1E398-E049-CD9D-0784-E168464E0A39}"/>
              </a:ext>
            </a:extLst>
          </p:cNvPr>
          <p:cNvSpPr txBox="1"/>
          <p:nvPr/>
        </p:nvSpPr>
        <p:spPr>
          <a:xfrm>
            <a:off x="462987" y="572220"/>
            <a:ext cx="11100122" cy="6278642"/>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r>
              <a:rPr lang="en-US" sz="2400" dirty="0"/>
              <a:t>Vector Store</a:t>
            </a:r>
          </a:p>
          <a:p>
            <a:pPr marL="742950" lvl="1" indent="-285750">
              <a:buFont typeface="Arial" panose="020B0604020202020204" pitchFamily="34" charset="0"/>
              <a:buChar char="•"/>
            </a:pPr>
            <a:r>
              <a:rPr lang="en-US" sz="2400" dirty="0"/>
              <a:t>Chunking</a:t>
            </a:r>
          </a:p>
          <a:p>
            <a:pPr marL="1200150" lvl="2" indent="-285750">
              <a:buFont typeface="Arial" panose="020B0604020202020204" pitchFamily="34" charset="0"/>
              <a:buChar char="•"/>
            </a:pPr>
            <a:r>
              <a:rPr lang="en-US" sz="2400" dirty="0"/>
              <a:t>Chunk size depends on the logical entity (i.e. chunking a whole function) instead of some random number of lines</a:t>
            </a:r>
          </a:p>
          <a:p>
            <a:pPr marL="1200150" lvl="2" indent="-285750">
              <a:buFont typeface="Arial" panose="020B0604020202020204" pitchFamily="34" charset="0"/>
              <a:buChar char="•"/>
            </a:pPr>
            <a:r>
              <a:rPr lang="en-US" sz="2400" dirty="0"/>
              <a:t>Different types of files (cfm, cfc, html, </a:t>
            </a:r>
            <a:r>
              <a:rPr lang="en-US" sz="2400" dirty="0" err="1"/>
              <a:t>js</a:t>
            </a:r>
            <a:r>
              <a:rPr lang="en-US" sz="2400" dirty="0"/>
              <a:t>, </a:t>
            </a:r>
            <a:r>
              <a:rPr lang="en-US" sz="2400" dirty="0" err="1"/>
              <a:t>sql</a:t>
            </a:r>
            <a:r>
              <a:rPr lang="en-US" sz="2400" dirty="0"/>
              <a:t>, …etc.)</a:t>
            </a:r>
          </a:p>
          <a:p>
            <a:pPr marL="742950" lvl="1" indent="-285750">
              <a:buFont typeface="Arial" panose="020B0604020202020204" pitchFamily="34" charset="0"/>
              <a:buChar char="•"/>
            </a:pPr>
            <a:r>
              <a:rPr lang="en-US" sz="2400" dirty="0"/>
              <a:t>Store a summary of the chunked codes and create embeddings based on the summary.  The summary should contain information that you want to know about the chunked codes (ex. The general purpose of the codes, file name, path to the file, functions/pages that use the function being chunked, functions/pages that the function being chunked use, …etc.)</a:t>
            </a:r>
          </a:p>
          <a:p>
            <a:pPr marL="742950" lvl="1" indent="-285750">
              <a:buFont typeface="Arial" panose="020B0604020202020204" pitchFamily="34" charset="0"/>
              <a:buChar char="•"/>
            </a:pPr>
            <a:r>
              <a:rPr lang="en-US" sz="2400" dirty="0"/>
              <a:t>Be sure to index the data.  Without the indexes, it would search the whole database for the information that you are looking for. </a:t>
            </a:r>
          </a:p>
          <a:p>
            <a:endParaRPr lang="en-US" sz="2400" dirty="0"/>
          </a:p>
          <a:p>
            <a:pPr lvl="1"/>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346247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0A97C3-4100-E0CE-550B-263723BA9FB8}"/>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C8711653-A2A5-AD1C-879E-3908F8B90158}"/>
              </a:ext>
            </a:extLst>
          </p:cNvPr>
          <p:cNvPicPr>
            <a:picLocks noChangeAspect="1"/>
          </p:cNvPicPr>
          <p:nvPr/>
        </p:nvPicPr>
        <p:blipFill>
          <a:blip r:embed="rId2"/>
          <a:stretch>
            <a:fillRect/>
          </a:stretch>
        </p:blipFill>
        <p:spPr>
          <a:xfrm>
            <a:off x="-11151" y="-6271"/>
            <a:ext cx="12188952" cy="6864271"/>
          </a:xfrm>
          <a:prstGeom prst="rect">
            <a:avLst/>
          </a:prstGeom>
        </p:spPr>
      </p:pic>
      <p:sp>
        <p:nvSpPr>
          <p:cNvPr id="10" name="Rectangle 9">
            <a:extLst>
              <a:ext uri="{FF2B5EF4-FFF2-40B4-BE49-F238E27FC236}">
                <a16:creationId xmlns:a16="http://schemas.microsoft.com/office/drawing/2014/main" id="{2C693DEF-7502-2804-B9F4-E6CE98B32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Footer Placeholder 10">
            <a:extLst>
              <a:ext uri="{FF2B5EF4-FFF2-40B4-BE49-F238E27FC236}">
                <a16:creationId xmlns:a16="http://schemas.microsoft.com/office/drawing/2014/main" id="{815EEBB1-7F66-17CC-C210-E11838628E99}"/>
              </a:ext>
            </a:extLst>
          </p:cNvPr>
          <p:cNvSpPr>
            <a:spLocks noGrp="1"/>
          </p:cNvSpPr>
          <p:nvPr>
            <p:ph type="ftr" sz="quarter" idx="11"/>
          </p:nvPr>
        </p:nvSpPr>
        <p:spPr>
          <a:xfrm>
            <a:off x="8696325" y="6462298"/>
            <a:ext cx="4114800" cy="365125"/>
          </a:xfrm>
        </p:spPr>
        <p:txBody>
          <a:bodyPr/>
          <a:lstStyle/>
          <a:p>
            <a:r>
              <a:rPr lang="en-US" sz="1400" dirty="0">
                <a:latin typeface="DunbarTall" panose="00000000000000020000" pitchFamily="50" charset="0"/>
              </a:rPr>
              <a:t>	 </a:t>
            </a:r>
          </a:p>
        </p:txBody>
      </p:sp>
      <p:sp>
        <p:nvSpPr>
          <p:cNvPr id="2" name="Freeform: Shape 1">
            <a:extLst>
              <a:ext uri="{FF2B5EF4-FFF2-40B4-BE49-F238E27FC236}">
                <a16:creationId xmlns:a16="http://schemas.microsoft.com/office/drawing/2014/main" id="{3EFBC302-63EF-9F20-0245-024F97CF7750}"/>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D0FA3F5-1DF2-462E-DC85-155AF16A8494}"/>
              </a:ext>
            </a:extLst>
          </p:cNvPr>
          <p:cNvSpPr txBox="1"/>
          <p:nvPr/>
        </p:nvSpPr>
        <p:spPr>
          <a:xfrm>
            <a:off x="462987" y="572220"/>
            <a:ext cx="11100122" cy="3693319"/>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pPr marL="742950" lvl="1" indent="-285750">
              <a:buFont typeface="Arial" panose="020B0604020202020204" pitchFamily="34" charset="0"/>
              <a:buChar char="•"/>
            </a:pPr>
            <a:r>
              <a:rPr lang="en-US" sz="2400" dirty="0"/>
              <a:t>Ongoing ingestion</a:t>
            </a:r>
          </a:p>
          <a:p>
            <a:pPr marL="1200150" lvl="2" indent="-285750">
              <a:buFont typeface="Arial" panose="020B0604020202020204" pitchFamily="34" charset="0"/>
              <a:buChar char="•"/>
            </a:pPr>
            <a:r>
              <a:rPr lang="en-US" sz="2400" dirty="0"/>
              <a:t>File changes</a:t>
            </a:r>
          </a:p>
          <a:p>
            <a:pPr marL="1657350" lvl="3" indent="-285750">
              <a:buFont typeface="Arial" panose="020B0604020202020204" pitchFamily="34" charset="0"/>
              <a:buChar char="•"/>
            </a:pPr>
            <a:r>
              <a:rPr lang="en-US" sz="2400" dirty="0"/>
              <a:t>Ingest all the files</a:t>
            </a:r>
          </a:p>
          <a:p>
            <a:pPr marL="1657350" lvl="3" indent="-285750">
              <a:buFont typeface="Arial" panose="020B0604020202020204" pitchFamily="34" charset="0"/>
              <a:buChar char="•"/>
            </a:pPr>
            <a:r>
              <a:rPr lang="en-US" sz="2400" dirty="0"/>
              <a:t>Ingest only the changed files (ex. Using git to find the changed files or build it into the pipeline to ingest after a successful merge)</a:t>
            </a:r>
          </a:p>
          <a:p>
            <a:pPr marL="742950" lvl="1" indent="-285750">
              <a:buFont typeface="Arial" panose="020B0604020202020204" pitchFamily="34" charset="0"/>
              <a:buChar char="•"/>
            </a:pPr>
            <a:endParaRPr lang="en-US" sz="2400" dirty="0"/>
          </a:p>
          <a:p>
            <a:pPr lvl="1"/>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01938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5715E08-146D-0759-2720-E84D70786BC1}"/>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Freeform: Shape 1">
            <a:extLst>
              <a:ext uri="{FF2B5EF4-FFF2-40B4-BE49-F238E27FC236}">
                <a16:creationId xmlns:a16="http://schemas.microsoft.com/office/drawing/2014/main" id="{6DAD8027-1835-30F1-2138-FEEFB4294F47}"/>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0FD99C64-091D-FF72-D6E5-945F70A79AB0}"/>
              </a:ext>
            </a:extLst>
          </p:cNvPr>
          <p:cNvSpPr txBox="1"/>
          <p:nvPr/>
        </p:nvSpPr>
        <p:spPr>
          <a:xfrm>
            <a:off x="717630" y="572220"/>
            <a:ext cx="11100122" cy="2308324"/>
          </a:xfrm>
          <a:prstGeom prst="rect">
            <a:avLst/>
          </a:prstGeom>
          <a:noFill/>
        </p:spPr>
        <p:txBody>
          <a:bodyPr wrap="square" rtlCol="0">
            <a:spAutoFit/>
          </a:bodyPr>
          <a:lstStyle/>
          <a:p>
            <a:r>
              <a:rPr lang="en-US" sz="2400" dirty="0"/>
              <a:t>LLM</a:t>
            </a:r>
          </a:p>
          <a:p>
            <a:endParaRPr lang="en-US" sz="2400" dirty="0"/>
          </a:p>
          <a:p>
            <a:pPr marL="342900" indent="-342900">
              <a:buFont typeface="Arial" panose="020B0604020202020204" pitchFamily="34" charset="0"/>
              <a:buChar char="•"/>
            </a:pPr>
            <a:r>
              <a:rPr lang="en-US" sz="2400" dirty="0"/>
              <a:t>CF 2025 comes with support of a set of LLMs</a:t>
            </a:r>
          </a:p>
          <a:p>
            <a:pPr marL="342900" indent="-342900">
              <a:buFont typeface="Arial" panose="020B0604020202020204" pitchFamily="34" charset="0"/>
              <a:buChar char="•"/>
            </a:pPr>
            <a:r>
              <a:rPr lang="en-US" sz="2400" dirty="0"/>
              <a:t>Anthropic, OpenAI, </a:t>
            </a:r>
            <a:r>
              <a:rPr lang="en-US" sz="2400" dirty="0" err="1"/>
              <a:t>Ollama</a:t>
            </a:r>
            <a:r>
              <a:rPr lang="en-US" sz="2400" dirty="0"/>
              <a:t> (allows you to have the LLM on your local environment)</a:t>
            </a:r>
          </a:p>
          <a:p>
            <a:pPr marL="342900" indent="-342900">
              <a:buFont typeface="Arial" panose="020B0604020202020204" pitchFamily="34" charset="0"/>
              <a:buChar char="•"/>
            </a:pPr>
            <a:r>
              <a:rPr lang="en-US" sz="2400" dirty="0"/>
              <a:t>Works with natural languages (i.e. does not have to be English)</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617095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145E27-5C60-58AF-CA55-21C895C1A5DE}"/>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1AA81AAC-F24F-2030-A2A3-6B4AFA3C816A}"/>
              </a:ext>
            </a:extLst>
          </p:cNvPr>
          <p:cNvPicPr>
            <a:picLocks noChangeAspect="1"/>
          </p:cNvPicPr>
          <p:nvPr/>
        </p:nvPicPr>
        <p:blipFill>
          <a:blip r:embed="rId2"/>
          <a:stretch>
            <a:fillRect/>
          </a:stretch>
        </p:blipFill>
        <p:spPr>
          <a:xfrm>
            <a:off x="1" y="612"/>
            <a:ext cx="12188952" cy="6864271"/>
          </a:xfrm>
          <a:prstGeom prst="rect">
            <a:avLst/>
          </a:prstGeom>
        </p:spPr>
      </p:pic>
      <p:sp>
        <p:nvSpPr>
          <p:cNvPr id="10" name="Rectangle 9">
            <a:extLst>
              <a:ext uri="{FF2B5EF4-FFF2-40B4-BE49-F238E27FC236}">
                <a16:creationId xmlns:a16="http://schemas.microsoft.com/office/drawing/2014/main" id="{BFE6CE08-4B75-1BF3-D2D9-BD720B228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Freeform: Shape 1">
            <a:extLst>
              <a:ext uri="{FF2B5EF4-FFF2-40B4-BE49-F238E27FC236}">
                <a16:creationId xmlns:a16="http://schemas.microsoft.com/office/drawing/2014/main" id="{F54186D4-77C0-0FEB-6BBC-F8DF626D3181}"/>
              </a:ext>
            </a:extLst>
          </p:cNvPr>
          <p:cNvSpPr/>
          <p:nvPr/>
        </p:nvSpPr>
        <p:spPr>
          <a:xfrm>
            <a:off x="-11151" y="5700713"/>
            <a:ext cx="12243125" cy="585067"/>
          </a:xfrm>
          <a:custGeom>
            <a:avLst/>
            <a:gdLst>
              <a:gd name="connsiteX0" fmla="*/ 0 w 12243125"/>
              <a:gd name="connsiteY0" fmla="*/ 186706 h 2145814"/>
              <a:gd name="connsiteX1" fmla="*/ 3880624 w 12243125"/>
              <a:gd name="connsiteY1" fmla="*/ 186706 h 2145814"/>
              <a:gd name="connsiteX2" fmla="*/ 9088244 w 12243125"/>
              <a:gd name="connsiteY2" fmla="*/ 2127018 h 2145814"/>
              <a:gd name="connsiteX3" fmla="*/ 11976410 w 12243125"/>
              <a:gd name="connsiteY3" fmla="*/ 1223770 h 2145814"/>
              <a:gd name="connsiteX4" fmla="*/ 12132527 w 12243125"/>
              <a:gd name="connsiteY4" fmla="*/ 1179165 h 2145814"/>
              <a:gd name="connsiteX5" fmla="*/ 12132527 w 12243125"/>
              <a:gd name="connsiteY5" fmla="*/ 1190316 h 2145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43125" h="2145814">
                <a:moveTo>
                  <a:pt x="0" y="186706"/>
                </a:moveTo>
                <a:cubicBezTo>
                  <a:pt x="1182958" y="25013"/>
                  <a:pt x="2365917" y="-136679"/>
                  <a:pt x="3880624" y="186706"/>
                </a:cubicBezTo>
                <a:cubicBezTo>
                  <a:pt x="5395331" y="510091"/>
                  <a:pt x="7738946" y="1954174"/>
                  <a:pt x="9088244" y="2127018"/>
                </a:cubicBezTo>
                <a:cubicBezTo>
                  <a:pt x="10437542" y="2299862"/>
                  <a:pt x="11976410" y="1223770"/>
                  <a:pt x="11976410" y="1223770"/>
                </a:cubicBezTo>
                <a:cubicBezTo>
                  <a:pt x="12483791" y="1065795"/>
                  <a:pt x="12106508" y="1184741"/>
                  <a:pt x="12132527" y="1179165"/>
                </a:cubicBezTo>
                <a:cubicBezTo>
                  <a:pt x="12158547" y="1173589"/>
                  <a:pt x="12145537" y="1181952"/>
                  <a:pt x="12132527" y="1190316"/>
                </a:cubicBezTo>
              </a:path>
            </a:pathLst>
          </a:custGeom>
          <a:noFill/>
          <a:effectLst>
            <a:reflection blurRad="6350" stA="530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F185F244-4489-5A79-6ABC-E9D996555BB0}"/>
              </a:ext>
            </a:extLst>
          </p:cNvPr>
          <p:cNvSpPr txBox="1"/>
          <p:nvPr/>
        </p:nvSpPr>
        <p:spPr>
          <a:xfrm>
            <a:off x="3854369" y="3060778"/>
            <a:ext cx="11100122" cy="1015663"/>
          </a:xfrm>
          <a:prstGeom prst="rect">
            <a:avLst/>
          </a:prstGeom>
          <a:noFill/>
        </p:spPr>
        <p:txBody>
          <a:bodyPr wrap="square" rtlCol="0">
            <a:spAutoFit/>
          </a:bodyPr>
          <a:lstStyle/>
          <a:p>
            <a:r>
              <a:rPr lang="en-US" sz="6000" dirty="0"/>
              <a:t>Voice Agent??  </a:t>
            </a:r>
          </a:p>
        </p:txBody>
      </p:sp>
    </p:spTree>
    <p:extLst>
      <p:ext uri="{BB962C8B-B14F-4D97-AF65-F5344CB8AC3E}">
        <p14:creationId xmlns:p14="http://schemas.microsoft.com/office/powerpoint/2010/main" val="359137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white background with hexagons&#10;&#10;Description automatically generated">
            <a:extLst>
              <a:ext uri="{FF2B5EF4-FFF2-40B4-BE49-F238E27FC236}">
                <a16:creationId xmlns:a16="http://schemas.microsoft.com/office/drawing/2014/main" id="{57167341-08E4-3FAE-09CA-8A71930D4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
            <a:ext cx="12192001" cy="6857612"/>
          </a:xfrm>
          <a:prstGeom prst="rect">
            <a:avLst/>
          </a:prstGeom>
        </p:spPr>
      </p:pic>
      <p:sp>
        <p:nvSpPr>
          <p:cNvPr id="2" name="TextBox 1">
            <a:extLst>
              <a:ext uri="{FF2B5EF4-FFF2-40B4-BE49-F238E27FC236}">
                <a16:creationId xmlns:a16="http://schemas.microsoft.com/office/drawing/2014/main" id="{AF1FBD9A-BC88-48B5-137F-AC54A2E234E0}"/>
              </a:ext>
            </a:extLst>
          </p:cNvPr>
          <p:cNvSpPr txBox="1"/>
          <p:nvPr/>
        </p:nvSpPr>
        <p:spPr>
          <a:xfrm>
            <a:off x="1542473" y="2844800"/>
            <a:ext cx="9596582" cy="769441"/>
          </a:xfrm>
          <a:prstGeom prst="rect">
            <a:avLst/>
          </a:prstGeom>
          <a:noFill/>
        </p:spPr>
        <p:txBody>
          <a:bodyPr wrap="square" rtlCol="0">
            <a:spAutoFit/>
          </a:bodyPr>
          <a:lstStyle/>
          <a:p>
            <a:pPr algn="ctr"/>
            <a:r>
              <a:rPr lang="en-US" sz="4400" dirty="0">
                <a:solidFill>
                  <a:srgbClr val="002060"/>
                </a:solidFill>
                <a:latin typeface="Roboto Light" panose="02000000000000000000" pitchFamily="2" charset="0"/>
                <a:ea typeface="Roboto Light" panose="02000000000000000000" pitchFamily="2" charset="0"/>
              </a:rPr>
              <a:t>Questions?</a:t>
            </a:r>
          </a:p>
        </p:txBody>
      </p:sp>
    </p:spTree>
    <p:extLst>
      <p:ext uri="{BB962C8B-B14F-4D97-AF65-F5344CB8AC3E}">
        <p14:creationId xmlns:p14="http://schemas.microsoft.com/office/powerpoint/2010/main" val="589305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208825</TotalTime>
  <Words>624</Words>
  <Application>Microsoft Macintosh PowerPoint</Application>
  <PresentationFormat>Widescreen</PresentationFormat>
  <Paragraphs>63</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adobe-clean</vt:lpstr>
      <vt:lpstr>DunbarTall</vt:lpstr>
      <vt:lpstr>Arial</vt:lpstr>
      <vt:lpstr>Calibri</vt:lpstr>
      <vt:lpstr>Calibri Light</vt:lpstr>
      <vt:lpstr>Roboto</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Rachel Williams-Rumsey</dc:creator>
  <cp:lastModifiedBy>monte monteandjanicechan.com</cp:lastModifiedBy>
  <cp:revision>71</cp:revision>
  <dcterms:created xsi:type="dcterms:W3CDTF">2023-07-17T19:55:35Z</dcterms:created>
  <dcterms:modified xsi:type="dcterms:W3CDTF">2026-06-23T18:17:22Z</dcterms:modified>
</cp:coreProperties>
</file>