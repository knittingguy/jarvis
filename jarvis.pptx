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3"/>
  </p:notesMasterIdLst>
  <p:handoutMasterIdLst>
    <p:handoutMasterId r:id="rId14"/>
  </p:handoutMasterIdLst>
  <p:sldIdLst>
    <p:sldId id="256" r:id="rId2"/>
    <p:sldId id="257" r:id="rId3"/>
    <p:sldId id="268" r:id="rId4"/>
    <p:sldId id="275" r:id="rId5"/>
    <p:sldId id="280" r:id="rId6"/>
    <p:sldId id="281" r:id="rId7"/>
    <p:sldId id="282" r:id="rId8"/>
    <p:sldId id="265" r:id="rId9"/>
    <p:sldId id="283" r:id="rId10"/>
    <p:sldId id="284" r:id="rId11"/>
    <p:sldId id="259"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2C21AB6-B9ED-584A-A64E-4C7C26C07FA9}">
          <p14:sldIdLst>
            <p14:sldId id="256"/>
            <p14:sldId id="257"/>
            <p14:sldId id="268"/>
            <p14:sldId id="275"/>
            <p14:sldId id="280"/>
            <p14:sldId id="281"/>
            <p14:sldId id="282"/>
            <p14:sldId id="265"/>
            <p14:sldId id="283"/>
            <p14:sldId id="284"/>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1787" autoAdjust="0"/>
    <p:restoredTop sz="94660"/>
  </p:normalViewPr>
  <p:slideViewPr>
    <p:cSldViewPr snapToGrid="0">
      <p:cViewPr varScale="1">
        <p:scale>
          <a:sx n="116" d="100"/>
          <a:sy n="116" d="100"/>
        </p:scale>
        <p:origin x="224" y="3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4EDB6A8-68DD-3537-6213-A441B6C8786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CC07729-4A01-B10E-6010-110640C2CAB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16DDEA4-190E-4095-9456-293A439BF9D4}" type="datetimeFigureOut">
              <a:rPr lang="en-US" smtClean="0"/>
              <a:t>10/28/26</a:t>
            </a:fld>
            <a:endParaRPr lang="en-US"/>
          </a:p>
        </p:txBody>
      </p:sp>
      <p:sp>
        <p:nvSpPr>
          <p:cNvPr id="4" name="Footer Placeholder 3">
            <a:extLst>
              <a:ext uri="{FF2B5EF4-FFF2-40B4-BE49-F238E27FC236}">
                <a16:creationId xmlns:a16="http://schemas.microsoft.com/office/drawing/2014/main" id="{9981F525-4265-CAF2-C8AF-76FA0D07ADA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38E894F-3473-FA2C-7A7D-9CC6A248DB1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0580143-5F7D-418D-BA77-441071448DAE}" type="slidenum">
              <a:rPr lang="en-US" smtClean="0"/>
              <a:t>‹#›</a:t>
            </a:fld>
            <a:endParaRPr lang="en-US"/>
          </a:p>
        </p:txBody>
      </p:sp>
    </p:spTree>
    <p:extLst>
      <p:ext uri="{BB962C8B-B14F-4D97-AF65-F5344CB8AC3E}">
        <p14:creationId xmlns:p14="http://schemas.microsoft.com/office/powerpoint/2010/main" val="130623804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7D3A0AD-F7F8-4E22-8D44-7E72D8F4DC21}" type="datetimeFigureOut">
              <a:rPr lang="en-US" smtClean="0"/>
              <a:t>10/24/26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2DB8199-D2EC-4256-A1CF-AE0073DA57EE}" type="slidenum">
              <a:rPr lang="en-US" smtClean="0"/>
              <a:t>‹#›</a:t>
            </a:fld>
            <a:endParaRPr lang="en-US"/>
          </a:p>
        </p:txBody>
      </p:sp>
    </p:spTree>
    <p:extLst>
      <p:ext uri="{BB962C8B-B14F-4D97-AF65-F5344CB8AC3E}">
        <p14:creationId xmlns:p14="http://schemas.microsoft.com/office/powerpoint/2010/main" val="1053084050"/>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2EC0C0-6246-6D64-1BCA-2CC007368D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783E821-2CB4-63D8-5F2B-61D8F18140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C4AABA-843B-C030-F497-BC25EA232644}"/>
              </a:ext>
            </a:extLst>
          </p:cNvPr>
          <p:cNvSpPr>
            <a:spLocks noGrp="1"/>
          </p:cNvSpPr>
          <p:nvPr>
            <p:ph type="dt" sz="half" idx="10"/>
          </p:nvPr>
        </p:nvSpPr>
        <p:spPr/>
        <p:txBody>
          <a:bodyPr/>
          <a:lstStyle/>
          <a:p>
            <a:fld id="{B4BC4C42-D1D2-48A6-888E-BB154087F9F6}" type="datetime1">
              <a:rPr lang="en-US" smtClean="0"/>
              <a:t>10/24/26</a:t>
            </a:fld>
            <a:endParaRPr lang="en-US"/>
          </a:p>
        </p:txBody>
      </p:sp>
      <p:sp>
        <p:nvSpPr>
          <p:cNvPr id="5" name="Footer Placeholder 4">
            <a:extLst>
              <a:ext uri="{FF2B5EF4-FFF2-40B4-BE49-F238E27FC236}">
                <a16:creationId xmlns:a16="http://schemas.microsoft.com/office/drawing/2014/main" id="{ECA74CE2-8C47-7561-36EB-D2AB5E93B2FB}"/>
              </a:ext>
            </a:extLst>
          </p:cNvPr>
          <p:cNvSpPr>
            <a:spLocks noGrp="1"/>
          </p:cNvSpPr>
          <p:nvPr>
            <p:ph type="ftr" sz="quarter" idx="11"/>
          </p:nvPr>
        </p:nvSpPr>
        <p:spPr/>
        <p:txBody>
          <a:bodyPr/>
          <a:lstStyle/>
          <a:p>
            <a:r>
              <a:rPr lang="en-US"/>
              <a:t>CF Webtools      |      Omaha, NE</a:t>
            </a:r>
          </a:p>
        </p:txBody>
      </p:sp>
      <p:sp>
        <p:nvSpPr>
          <p:cNvPr id="6" name="Slide Number Placeholder 5">
            <a:extLst>
              <a:ext uri="{FF2B5EF4-FFF2-40B4-BE49-F238E27FC236}">
                <a16:creationId xmlns:a16="http://schemas.microsoft.com/office/drawing/2014/main" id="{1D7A5D3E-43A2-CA51-3190-55EBDA588C94}"/>
              </a:ext>
            </a:extLst>
          </p:cNvPr>
          <p:cNvSpPr>
            <a:spLocks noGrp="1"/>
          </p:cNvSpPr>
          <p:nvPr>
            <p:ph type="sldNum" sz="quarter" idx="12"/>
          </p:nvPr>
        </p:nvSpPr>
        <p:spPr/>
        <p:txBody>
          <a:bodyPr/>
          <a:lstStyle/>
          <a:p>
            <a:fld id="{914A60B4-844F-477C-B38E-A2977EEFAE90}" type="slidenum">
              <a:rPr lang="en-US" smtClean="0"/>
              <a:t>‹#›</a:t>
            </a:fld>
            <a:endParaRPr lang="en-US"/>
          </a:p>
        </p:txBody>
      </p:sp>
    </p:spTree>
    <p:extLst>
      <p:ext uri="{BB962C8B-B14F-4D97-AF65-F5344CB8AC3E}">
        <p14:creationId xmlns:p14="http://schemas.microsoft.com/office/powerpoint/2010/main" val="14388936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4395C-729C-0E29-1E87-FD507C96739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74BB2F8-D2A3-0B7A-D1DC-8E7CFC308BE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0932ED-4DFB-79F9-B0E4-91851736F35A}"/>
              </a:ext>
            </a:extLst>
          </p:cNvPr>
          <p:cNvSpPr>
            <a:spLocks noGrp="1"/>
          </p:cNvSpPr>
          <p:nvPr>
            <p:ph type="dt" sz="half" idx="10"/>
          </p:nvPr>
        </p:nvSpPr>
        <p:spPr/>
        <p:txBody>
          <a:bodyPr/>
          <a:lstStyle/>
          <a:p>
            <a:fld id="{105BBFFB-78F7-45D0-B0F7-C9ABBFCC4691}" type="datetime1">
              <a:rPr lang="en-US" smtClean="0"/>
              <a:t>10/24/26</a:t>
            </a:fld>
            <a:endParaRPr lang="en-US"/>
          </a:p>
        </p:txBody>
      </p:sp>
      <p:sp>
        <p:nvSpPr>
          <p:cNvPr id="5" name="Footer Placeholder 4">
            <a:extLst>
              <a:ext uri="{FF2B5EF4-FFF2-40B4-BE49-F238E27FC236}">
                <a16:creationId xmlns:a16="http://schemas.microsoft.com/office/drawing/2014/main" id="{5E68C3B1-03BE-04C1-C089-130FECD0924B}"/>
              </a:ext>
            </a:extLst>
          </p:cNvPr>
          <p:cNvSpPr>
            <a:spLocks noGrp="1"/>
          </p:cNvSpPr>
          <p:nvPr>
            <p:ph type="ftr" sz="quarter" idx="11"/>
          </p:nvPr>
        </p:nvSpPr>
        <p:spPr/>
        <p:txBody>
          <a:bodyPr/>
          <a:lstStyle/>
          <a:p>
            <a:r>
              <a:rPr lang="en-US"/>
              <a:t>CF Webtools      |      Omaha, NE</a:t>
            </a:r>
          </a:p>
        </p:txBody>
      </p:sp>
      <p:sp>
        <p:nvSpPr>
          <p:cNvPr id="6" name="Slide Number Placeholder 5">
            <a:extLst>
              <a:ext uri="{FF2B5EF4-FFF2-40B4-BE49-F238E27FC236}">
                <a16:creationId xmlns:a16="http://schemas.microsoft.com/office/drawing/2014/main" id="{7084B2D6-193B-FF8F-6422-89FC78529005}"/>
              </a:ext>
            </a:extLst>
          </p:cNvPr>
          <p:cNvSpPr>
            <a:spLocks noGrp="1"/>
          </p:cNvSpPr>
          <p:nvPr>
            <p:ph type="sldNum" sz="quarter" idx="12"/>
          </p:nvPr>
        </p:nvSpPr>
        <p:spPr/>
        <p:txBody>
          <a:bodyPr/>
          <a:lstStyle/>
          <a:p>
            <a:fld id="{914A60B4-844F-477C-B38E-A2977EEFAE90}" type="slidenum">
              <a:rPr lang="en-US" smtClean="0"/>
              <a:t>‹#›</a:t>
            </a:fld>
            <a:endParaRPr lang="en-US"/>
          </a:p>
        </p:txBody>
      </p:sp>
    </p:spTree>
    <p:extLst>
      <p:ext uri="{BB962C8B-B14F-4D97-AF65-F5344CB8AC3E}">
        <p14:creationId xmlns:p14="http://schemas.microsoft.com/office/powerpoint/2010/main" val="42431576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FC8EE-7AEE-CCC8-FE4A-C7072A7596A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4A2AEBD-92C2-C82E-D5B7-F9329FFBE8F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54640BE-4C2F-E7E5-23B8-92E966D5FAA4}"/>
              </a:ext>
            </a:extLst>
          </p:cNvPr>
          <p:cNvSpPr>
            <a:spLocks noGrp="1"/>
          </p:cNvSpPr>
          <p:nvPr>
            <p:ph type="dt" sz="half" idx="10"/>
          </p:nvPr>
        </p:nvSpPr>
        <p:spPr/>
        <p:txBody>
          <a:bodyPr/>
          <a:lstStyle/>
          <a:p>
            <a:fld id="{7277E951-9294-4411-ABD9-4F5B08EBC92B}" type="datetime1">
              <a:rPr lang="en-US" smtClean="0"/>
              <a:t>10/24/26</a:t>
            </a:fld>
            <a:endParaRPr lang="en-US"/>
          </a:p>
        </p:txBody>
      </p:sp>
      <p:sp>
        <p:nvSpPr>
          <p:cNvPr id="5" name="Footer Placeholder 4">
            <a:extLst>
              <a:ext uri="{FF2B5EF4-FFF2-40B4-BE49-F238E27FC236}">
                <a16:creationId xmlns:a16="http://schemas.microsoft.com/office/drawing/2014/main" id="{59EA6B0F-03B5-0A94-70B9-56D63FA6148F}"/>
              </a:ext>
            </a:extLst>
          </p:cNvPr>
          <p:cNvSpPr>
            <a:spLocks noGrp="1"/>
          </p:cNvSpPr>
          <p:nvPr>
            <p:ph type="ftr" sz="quarter" idx="11"/>
          </p:nvPr>
        </p:nvSpPr>
        <p:spPr/>
        <p:txBody>
          <a:bodyPr/>
          <a:lstStyle/>
          <a:p>
            <a:r>
              <a:rPr lang="en-US"/>
              <a:t>CF Webtools      |      Omaha, NE</a:t>
            </a:r>
          </a:p>
        </p:txBody>
      </p:sp>
      <p:sp>
        <p:nvSpPr>
          <p:cNvPr id="6" name="Slide Number Placeholder 5">
            <a:extLst>
              <a:ext uri="{FF2B5EF4-FFF2-40B4-BE49-F238E27FC236}">
                <a16:creationId xmlns:a16="http://schemas.microsoft.com/office/drawing/2014/main" id="{8E3A9BF9-3D2B-04BF-6A86-6FDEC6087A0B}"/>
              </a:ext>
            </a:extLst>
          </p:cNvPr>
          <p:cNvSpPr>
            <a:spLocks noGrp="1"/>
          </p:cNvSpPr>
          <p:nvPr>
            <p:ph type="sldNum" sz="quarter" idx="12"/>
          </p:nvPr>
        </p:nvSpPr>
        <p:spPr/>
        <p:txBody>
          <a:bodyPr/>
          <a:lstStyle/>
          <a:p>
            <a:fld id="{914A60B4-844F-477C-B38E-A2977EEFAE90}" type="slidenum">
              <a:rPr lang="en-US" smtClean="0"/>
              <a:t>‹#›</a:t>
            </a:fld>
            <a:endParaRPr lang="en-US"/>
          </a:p>
        </p:txBody>
      </p:sp>
    </p:spTree>
    <p:extLst>
      <p:ext uri="{BB962C8B-B14F-4D97-AF65-F5344CB8AC3E}">
        <p14:creationId xmlns:p14="http://schemas.microsoft.com/office/powerpoint/2010/main" val="32229538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11AB53-4074-02B7-91FE-D3BEDFDF5E8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6B8A6A9-D1D2-1409-612B-8DD65F6CE1F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C85B0A6-4FC4-FAA5-741C-3F23917DA71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0810687-1A58-E358-4A07-8E078120DFB8}"/>
              </a:ext>
            </a:extLst>
          </p:cNvPr>
          <p:cNvSpPr>
            <a:spLocks noGrp="1"/>
          </p:cNvSpPr>
          <p:nvPr>
            <p:ph type="dt" sz="half" idx="10"/>
          </p:nvPr>
        </p:nvSpPr>
        <p:spPr/>
        <p:txBody>
          <a:bodyPr/>
          <a:lstStyle/>
          <a:p>
            <a:fld id="{E28634BB-C7C5-4027-9EC9-E3EB86FCAEF3}" type="datetime1">
              <a:rPr lang="en-US" smtClean="0"/>
              <a:t>10/24/26</a:t>
            </a:fld>
            <a:endParaRPr lang="en-US"/>
          </a:p>
        </p:txBody>
      </p:sp>
      <p:sp>
        <p:nvSpPr>
          <p:cNvPr id="6" name="Footer Placeholder 5">
            <a:extLst>
              <a:ext uri="{FF2B5EF4-FFF2-40B4-BE49-F238E27FC236}">
                <a16:creationId xmlns:a16="http://schemas.microsoft.com/office/drawing/2014/main" id="{D126CDF0-06B4-37E2-452E-73413A44A275}"/>
              </a:ext>
            </a:extLst>
          </p:cNvPr>
          <p:cNvSpPr>
            <a:spLocks noGrp="1"/>
          </p:cNvSpPr>
          <p:nvPr>
            <p:ph type="ftr" sz="quarter" idx="11"/>
          </p:nvPr>
        </p:nvSpPr>
        <p:spPr/>
        <p:txBody>
          <a:bodyPr/>
          <a:lstStyle/>
          <a:p>
            <a:r>
              <a:rPr lang="en-US"/>
              <a:t>CF Webtools      |      Omaha, NE</a:t>
            </a:r>
          </a:p>
        </p:txBody>
      </p:sp>
      <p:sp>
        <p:nvSpPr>
          <p:cNvPr id="7" name="Slide Number Placeholder 6">
            <a:extLst>
              <a:ext uri="{FF2B5EF4-FFF2-40B4-BE49-F238E27FC236}">
                <a16:creationId xmlns:a16="http://schemas.microsoft.com/office/drawing/2014/main" id="{C95F7D31-5A61-4052-0F04-7987429A8013}"/>
              </a:ext>
            </a:extLst>
          </p:cNvPr>
          <p:cNvSpPr>
            <a:spLocks noGrp="1"/>
          </p:cNvSpPr>
          <p:nvPr>
            <p:ph type="sldNum" sz="quarter" idx="12"/>
          </p:nvPr>
        </p:nvSpPr>
        <p:spPr/>
        <p:txBody>
          <a:bodyPr/>
          <a:lstStyle/>
          <a:p>
            <a:fld id="{914A60B4-844F-477C-B38E-A2977EEFAE90}" type="slidenum">
              <a:rPr lang="en-US" smtClean="0"/>
              <a:t>‹#›</a:t>
            </a:fld>
            <a:endParaRPr lang="en-US"/>
          </a:p>
        </p:txBody>
      </p:sp>
    </p:spTree>
    <p:extLst>
      <p:ext uri="{BB962C8B-B14F-4D97-AF65-F5344CB8AC3E}">
        <p14:creationId xmlns:p14="http://schemas.microsoft.com/office/powerpoint/2010/main" val="12536533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A61ED-DC38-5D6F-DE72-C9CF74AFB93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B636B26-EBF1-28D5-5841-40E294E0E0C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A8E75C6-03F9-FF50-2299-EAB1AB1A5F1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BC06273-4127-0647-0BE1-946E43BCF68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6B60AAD-D86E-2C62-AB4B-8492D15BBBB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E011DAB-A045-0074-C3F4-0DF267F91F19}"/>
              </a:ext>
            </a:extLst>
          </p:cNvPr>
          <p:cNvSpPr>
            <a:spLocks noGrp="1"/>
          </p:cNvSpPr>
          <p:nvPr>
            <p:ph type="dt" sz="half" idx="10"/>
          </p:nvPr>
        </p:nvSpPr>
        <p:spPr/>
        <p:txBody>
          <a:bodyPr/>
          <a:lstStyle/>
          <a:p>
            <a:fld id="{640DA9FB-1B58-4ED0-93BA-D955084D1D32}" type="datetime1">
              <a:rPr lang="en-US" smtClean="0"/>
              <a:t>10/24/26</a:t>
            </a:fld>
            <a:endParaRPr lang="en-US"/>
          </a:p>
        </p:txBody>
      </p:sp>
      <p:sp>
        <p:nvSpPr>
          <p:cNvPr id="8" name="Footer Placeholder 7">
            <a:extLst>
              <a:ext uri="{FF2B5EF4-FFF2-40B4-BE49-F238E27FC236}">
                <a16:creationId xmlns:a16="http://schemas.microsoft.com/office/drawing/2014/main" id="{6770C9EA-738C-BEF5-9B75-50B4EF4E26DC}"/>
              </a:ext>
            </a:extLst>
          </p:cNvPr>
          <p:cNvSpPr>
            <a:spLocks noGrp="1"/>
          </p:cNvSpPr>
          <p:nvPr>
            <p:ph type="ftr" sz="quarter" idx="11"/>
          </p:nvPr>
        </p:nvSpPr>
        <p:spPr/>
        <p:txBody>
          <a:bodyPr/>
          <a:lstStyle/>
          <a:p>
            <a:r>
              <a:rPr lang="en-US"/>
              <a:t>CF Webtools      |      Omaha, NE</a:t>
            </a:r>
          </a:p>
        </p:txBody>
      </p:sp>
      <p:sp>
        <p:nvSpPr>
          <p:cNvPr id="9" name="Slide Number Placeholder 8">
            <a:extLst>
              <a:ext uri="{FF2B5EF4-FFF2-40B4-BE49-F238E27FC236}">
                <a16:creationId xmlns:a16="http://schemas.microsoft.com/office/drawing/2014/main" id="{A539A737-33DC-31E4-CFB8-25205C638E95}"/>
              </a:ext>
            </a:extLst>
          </p:cNvPr>
          <p:cNvSpPr>
            <a:spLocks noGrp="1"/>
          </p:cNvSpPr>
          <p:nvPr>
            <p:ph type="sldNum" sz="quarter" idx="12"/>
          </p:nvPr>
        </p:nvSpPr>
        <p:spPr/>
        <p:txBody>
          <a:bodyPr/>
          <a:lstStyle/>
          <a:p>
            <a:fld id="{914A60B4-844F-477C-B38E-A2977EEFAE90}" type="slidenum">
              <a:rPr lang="en-US" smtClean="0"/>
              <a:t>‹#›</a:t>
            </a:fld>
            <a:endParaRPr lang="en-US"/>
          </a:p>
        </p:txBody>
      </p:sp>
    </p:spTree>
    <p:extLst>
      <p:ext uri="{BB962C8B-B14F-4D97-AF65-F5344CB8AC3E}">
        <p14:creationId xmlns:p14="http://schemas.microsoft.com/office/powerpoint/2010/main" val="37766607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90CE6-F447-20F9-D06D-142B952FA9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FBAF70E-F18D-A944-5D3C-6F5C413491BA}"/>
              </a:ext>
            </a:extLst>
          </p:cNvPr>
          <p:cNvSpPr>
            <a:spLocks noGrp="1"/>
          </p:cNvSpPr>
          <p:nvPr>
            <p:ph type="dt" sz="half" idx="10"/>
          </p:nvPr>
        </p:nvSpPr>
        <p:spPr/>
        <p:txBody>
          <a:bodyPr/>
          <a:lstStyle/>
          <a:p>
            <a:fld id="{5271C941-E01D-4E80-8E0E-12B6D345AD24}" type="datetime1">
              <a:rPr lang="en-US" smtClean="0"/>
              <a:t>10/24/26</a:t>
            </a:fld>
            <a:endParaRPr lang="en-US"/>
          </a:p>
        </p:txBody>
      </p:sp>
      <p:sp>
        <p:nvSpPr>
          <p:cNvPr id="4" name="Footer Placeholder 3">
            <a:extLst>
              <a:ext uri="{FF2B5EF4-FFF2-40B4-BE49-F238E27FC236}">
                <a16:creationId xmlns:a16="http://schemas.microsoft.com/office/drawing/2014/main" id="{7004D756-6E24-F502-FCBB-AC46965DD9E0}"/>
              </a:ext>
            </a:extLst>
          </p:cNvPr>
          <p:cNvSpPr>
            <a:spLocks noGrp="1"/>
          </p:cNvSpPr>
          <p:nvPr>
            <p:ph type="ftr" sz="quarter" idx="11"/>
          </p:nvPr>
        </p:nvSpPr>
        <p:spPr/>
        <p:txBody>
          <a:bodyPr/>
          <a:lstStyle/>
          <a:p>
            <a:r>
              <a:rPr lang="en-US"/>
              <a:t>CF Webtools      |      Omaha, NE</a:t>
            </a:r>
          </a:p>
        </p:txBody>
      </p:sp>
      <p:sp>
        <p:nvSpPr>
          <p:cNvPr id="5" name="Slide Number Placeholder 4">
            <a:extLst>
              <a:ext uri="{FF2B5EF4-FFF2-40B4-BE49-F238E27FC236}">
                <a16:creationId xmlns:a16="http://schemas.microsoft.com/office/drawing/2014/main" id="{6CEE0B11-88F3-1D9B-1440-0B994D5748F8}"/>
              </a:ext>
            </a:extLst>
          </p:cNvPr>
          <p:cNvSpPr>
            <a:spLocks noGrp="1"/>
          </p:cNvSpPr>
          <p:nvPr>
            <p:ph type="sldNum" sz="quarter" idx="12"/>
          </p:nvPr>
        </p:nvSpPr>
        <p:spPr/>
        <p:txBody>
          <a:bodyPr/>
          <a:lstStyle/>
          <a:p>
            <a:fld id="{914A60B4-844F-477C-B38E-A2977EEFAE90}" type="slidenum">
              <a:rPr lang="en-US" smtClean="0"/>
              <a:t>‹#›</a:t>
            </a:fld>
            <a:endParaRPr lang="en-US"/>
          </a:p>
        </p:txBody>
      </p:sp>
    </p:spTree>
    <p:extLst>
      <p:ext uri="{BB962C8B-B14F-4D97-AF65-F5344CB8AC3E}">
        <p14:creationId xmlns:p14="http://schemas.microsoft.com/office/powerpoint/2010/main" val="28501421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CF2F300-9028-D0B5-9D6E-40F436E44FC8}"/>
              </a:ext>
            </a:extLst>
          </p:cNvPr>
          <p:cNvSpPr>
            <a:spLocks noGrp="1"/>
          </p:cNvSpPr>
          <p:nvPr>
            <p:ph type="dt" sz="half" idx="10"/>
          </p:nvPr>
        </p:nvSpPr>
        <p:spPr/>
        <p:txBody>
          <a:bodyPr/>
          <a:lstStyle/>
          <a:p>
            <a:fld id="{4F0F3D3D-20C8-4D64-A483-2C4C8EBC1BD9}" type="datetime1">
              <a:rPr lang="en-US" smtClean="0"/>
              <a:t>10/24/26</a:t>
            </a:fld>
            <a:endParaRPr lang="en-US"/>
          </a:p>
        </p:txBody>
      </p:sp>
      <p:sp>
        <p:nvSpPr>
          <p:cNvPr id="3" name="Footer Placeholder 2">
            <a:extLst>
              <a:ext uri="{FF2B5EF4-FFF2-40B4-BE49-F238E27FC236}">
                <a16:creationId xmlns:a16="http://schemas.microsoft.com/office/drawing/2014/main" id="{B03ADB80-BF6D-EDD6-533F-B1F1A49A1368}"/>
              </a:ext>
            </a:extLst>
          </p:cNvPr>
          <p:cNvSpPr>
            <a:spLocks noGrp="1"/>
          </p:cNvSpPr>
          <p:nvPr>
            <p:ph type="ftr" sz="quarter" idx="11"/>
          </p:nvPr>
        </p:nvSpPr>
        <p:spPr/>
        <p:txBody>
          <a:bodyPr/>
          <a:lstStyle/>
          <a:p>
            <a:r>
              <a:rPr lang="en-US"/>
              <a:t>CF Webtools      |      Omaha, NE</a:t>
            </a:r>
          </a:p>
        </p:txBody>
      </p:sp>
      <p:sp>
        <p:nvSpPr>
          <p:cNvPr id="4" name="Slide Number Placeholder 3">
            <a:extLst>
              <a:ext uri="{FF2B5EF4-FFF2-40B4-BE49-F238E27FC236}">
                <a16:creationId xmlns:a16="http://schemas.microsoft.com/office/drawing/2014/main" id="{C1E0187D-D374-EE8F-3FD2-6D2BC8ACEC53}"/>
              </a:ext>
            </a:extLst>
          </p:cNvPr>
          <p:cNvSpPr>
            <a:spLocks noGrp="1"/>
          </p:cNvSpPr>
          <p:nvPr>
            <p:ph type="sldNum" sz="quarter" idx="12"/>
          </p:nvPr>
        </p:nvSpPr>
        <p:spPr/>
        <p:txBody>
          <a:bodyPr/>
          <a:lstStyle/>
          <a:p>
            <a:fld id="{914A60B4-844F-477C-B38E-A2977EEFAE90}" type="slidenum">
              <a:rPr lang="en-US" smtClean="0"/>
              <a:t>‹#›</a:t>
            </a:fld>
            <a:endParaRPr lang="en-US"/>
          </a:p>
        </p:txBody>
      </p:sp>
    </p:spTree>
    <p:extLst>
      <p:ext uri="{BB962C8B-B14F-4D97-AF65-F5344CB8AC3E}">
        <p14:creationId xmlns:p14="http://schemas.microsoft.com/office/powerpoint/2010/main" val="38295360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66EB7B-EE35-695F-285E-F50BB62064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DADE1D6-63FC-5D2C-7BF0-4A89903FB91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D7F851C-FFBB-B61C-8CE6-EF4EC724A3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38D67A2-566A-EAAD-3DE0-F8A59929843F}"/>
              </a:ext>
            </a:extLst>
          </p:cNvPr>
          <p:cNvSpPr>
            <a:spLocks noGrp="1"/>
          </p:cNvSpPr>
          <p:nvPr>
            <p:ph type="dt" sz="half" idx="10"/>
          </p:nvPr>
        </p:nvSpPr>
        <p:spPr/>
        <p:txBody>
          <a:bodyPr/>
          <a:lstStyle/>
          <a:p>
            <a:fld id="{3F4FD0B4-F151-47BF-95A6-DA20B44AE473}" type="datetime1">
              <a:rPr lang="en-US" smtClean="0"/>
              <a:t>10/24/26</a:t>
            </a:fld>
            <a:endParaRPr lang="en-US"/>
          </a:p>
        </p:txBody>
      </p:sp>
      <p:sp>
        <p:nvSpPr>
          <p:cNvPr id="6" name="Footer Placeholder 5">
            <a:extLst>
              <a:ext uri="{FF2B5EF4-FFF2-40B4-BE49-F238E27FC236}">
                <a16:creationId xmlns:a16="http://schemas.microsoft.com/office/drawing/2014/main" id="{85B517B0-FE37-29D0-D57C-CB374A437BAD}"/>
              </a:ext>
            </a:extLst>
          </p:cNvPr>
          <p:cNvSpPr>
            <a:spLocks noGrp="1"/>
          </p:cNvSpPr>
          <p:nvPr>
            <p:ph type="ftr" sz="quarter" idx="11"/>
          </p:nvPr>
        </p:nvSpPr>
        <p:spPr/>
        <p:txBody>
          <a:bodyPr/>
          <a:lstStyle/>
          <a:p>
            <a:r>
              <a:rPr lang="en-US"/>
              <a:t>CF Webtools      |      Omaha, NE</a:t>
            </a:r>
          </a:p>
        </p:txBody>
      </p:sp>
      <p:sp>
        <p:nvSpPr>
          <p:cNvPr id="7" name="Slide Number Placeholder 6">
            <a:extLst>
              <a:ext uri="{FF2B5EF4-FFF2-40B4-BE49-F238E27FC236}">
                <a16:creationId xmlns:a16="http://schemas.microsoft.com/office/drawing/2014/main" id="{BF46C1EF-373E-E24F-CE58-802A48E570AD}"/>
              </a:ext>
            </a:extLst>
          </p:cNvPr>
          <p:cNvSpPr>
            <a:spLocks noGrp="1"/>
          </p:cNvSpPr>
          <p:nvPr>
            <p:ph type="sldNum" sz="quarter" idx="12"/>
          </p:nvPr>
        </p:nvSpPr>
        <p:spPr/>
        <p:txBody>
          <a:bodyPr/>
          <a:lstStyle/>
          <a:p>
            <a:fld id="{914A60B4-844F-477C-B38E-A2977EEFAE90}" type="slidenum">
              <a:rPr lang="en-US" smtClean="0"/>
              <a:t>‹#›</a:t>
            </a:fld>
            <a:endParaRPr lang="en-US"/>
          </a:p>
        </p:txBody>
      </p:sp>
    </p:spTree>
    <p:extLst>
      <p:ext uri="{BB962C8B-B14F-4D97-AF65-F5344CB8AC3E}">
        <p14:creationId xmlns:p14="http://schemas.microsoft.com/office/powerpoint/2010/main" val="34191836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921CB3-50A2-F3D8-DC3A-089123505F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165DB66-7CDB-9F89-63F9-9F1C59CB0BF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E8FD708-3260-11CF-F4AB-828E058B3F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5ABB084-CCBF-19DC-6F8D-9661B5D7C441}"/>
              </a:ext>
            </a:extLst>
          </p:cNvPr>
          <p:cNvSpPr>
            <a:spLocks noGrp="1"/>
          </p:cNvSpPr>
          <p:nvPr>
            <p:ph type="dt" sz="half" idx="10"/>
          </p:nvPr>
        </p:nvSpPr>
        <p:spPr/>
        <p:txBody>
          <a:bodyPr/>
          <a:lstStyle/>
          <a:p>
            <a:fld id="{4B55E73E-FC96-4445-9331-78F7215BD613}" type="datetime1">
              <a:rPr lang="en-US" smtClean="0"/>
              <a:t>10/24/26</a:t>
            </a:fld>
            <a:endParaRPr lang="en-US"/>
          </a:p>
        </p:txBody>
      </p:sp>
      <p:sp>
        <p:nvSpPr>
          <p:cNvPr id="6" name="Footer Placeholder 5">
            <a:extLst>
              <a:ext uri="{FF2B5EF4-FFF2-40B4-BE49-F238E27FC236}">
                <a16:creationId xmlns:a16="http://schemas.microsoft.com/office/drawing/2014/main" id="{327F03DA-8D84-D8AA-5B4F-676CFC0B0824}"/>
              </a:ext>
            </a:extLst>
          </p:cNvPr>
          <p:cNvSpPr>
            <a:spLocks noGrp="1"/>
          </p:cNvSpPr>
          <p:nvPr>
            <p:ph type="ftr" sz="quarter" idx="11"/>
          </p:nvPr>
        </p:nvSpPr>
        <p:spPr/>
        <p:txBody>
          <a:bodyPr/>
          <a:lstStyle/>
          <a:p>
            <a:r>
              <a:rPr lang="en-US"/>
              <a:t>CF Webtools      |      Omaha, NE</a:t>
            </a:r>
          </a:p>
        </p:txBody>
      </p:sp>
      <p:sp>
        <p:nvSpPr>
          <p:cNvPr id="7" name="Slide Number Placeholder 6">
            <a:extLst>
              <a:ext uri="{FF2B5EF4-FFF2-40B4-BE49-F238E27FC236}">
                <a16:creationId xmlns:a16="http://schemas.microsoft.com/office/drawing/2014/main" id="{3F760540-8CF5-3FB7-B9D8-E595B4AAED63}"/>
              </a:ext>
            </a:extLst>
          </p:cNvPr>
          <p:cNvSpPr>
            <a:spLocks noGrp="1"/>
          </p:cNvSpPr>
          <p:nvPr>
            <p:ph type="sldNum" sz="quarter" idx="12"/>
          </p:nvPr>
        </p:nvSpPr>
        <p:spPr/>
        <p:txBody>
          <a:bodyPr/>
          <a:lstStyle/>
          <a:p>
            <a:fld id="{914A60B4-844F-477C-B38E-A2977EEFAE90}" type="slidenum">
              <a:rPr lang="en-US" smtClean="0"/>
              <a:t>‹#›</a:t>
            </a:fld>
            <a:endParaRPr lang="en-US"/>
          </a:p>
        </p:txBody>
      </p:sp>
    </p:spTree>
    <p:extLst>
      <p:ext uri="{BB962C8B-B14F-4D97-AF65-F5344CB8AC3E}">
        <p14:creationId xmlns:p14="http://schemas.microsoft.com/office/powerpoint/2010/main" val="30403868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55C9D-3CFF-AB0B-9F2A-30937488550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62EF016-E755-5A48-992A-7AA3600F42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4EB576-D1EE-8312-F17A-01BCBAB7C61B}"/>
              </a:ext>
            </a:extLst>
          </p:cNvPr>
          <p:cNvSpPr>
            <a:spLocks noGrp="1"/>
          </p:cNvSpPr>
          <p:nvPr>
            <p:ph type="dt" sz="half" idx="10"/>
          </p:nvPr>
        </p:nvSpPr>
        <p:spPr/>
        <p:txBody>
          <a:bodyPr/>
          <a:lstStyle/>
          <a:p>
            <a:fld id="{18316AE6-2325-49DB-B148-26330E2FD277}" type="datetime1">
              <a:rPr lang="en-US" smtClean="0"/>
              <a:t>10/24/26</a:t>
            </a:fld>
            <a:endParaRPr lang="en-US"/>
          </a:p>
        </p:txBody>
      </p:sp>
      <p:sp>
        <p:nvSpPr>
          <p:cNvPr id="5" name="Footer Placeholder 4">
            <a:extLst>
              <a:ext uri="{FF2B5EF4-FFF2-40B4-BE49-F238E27FC236}">
                <a16:creationId xmlns:a16="http://schemas.microsoft.com/office/drawing/2014/main" id="{0C25DB8F-7370-4045-899A-DC1D2143F7E7}"/>
              </a:ext>
            </a:extLst>
          </p:cNvPr>
          <p:cNvSpPr>
            <a:spLocks noGrp="1"/>
          </p:cNvSpPr>
          <p:nvPr>
            <p:ph type="ftr" sz="quarter" idx="11"/>
          </p:nvPr>
        </p:nvSpPr>
        <p:spPr/>
        <p:txBody>
          <a:bodyPr/>
          <a:lstStyle/>
          <a:p>
            <a:r>
              <a:rPr lang="en-US"/>
              <a:t>CF Webtools      |      Omaha, NE</a:t>
            </a:r>
          </a:p>
        </p:txBody>
      </p:sp>
      <p:sp>
        <p:nvSpPr>
          <p:cNvPr id="6" name="Slide Number Placeholder 5">
            <a:extLst>
              <a:ext uri="{FF2B5EF4-FFF2-40B4-BE49-F238E27FC236}">
                <a16:creationId xmlns:a16="http://schemas.microsoft.com/office/drawing/2014/main" id="{F728A12C-661D-D7A8-FB3D-CA87473B2D4A}"/>
              </a:ext>
            </a:extLst>
          </p:cNvPr>
          <p:cNvSpPr>
            <a:spLocks noGrp="1"/>
          </p:cNvSpPr>
          <p:nvPr>
            <p:ph type="sldNum" sz="quarter" idx="12"/>
          </p:nvPr>
        </p:nvSpPr>
        <p:spPr/>
        <p:txBody>
          <a:bodyPr/>
          <a:lstStyle/>
          <a:p>
            <a:fld id="{914A60B4-844F-477C-B38E-A2977EEFAE90}" type="slidenum">
              <a:rPr lang="en-US" smtClean="0"/>
              <a:t>‹#›</a:t>
            </a:fld>
            <a:endParaRPr lang="en-US"/>
          </a:p>
        </p:txBody>
      </p:sp>
    </p:spTree>
    <p:extLst>
      <p:ext uri="{BB962C8B-B14F-4D97-AF65-F5344CB8AC3E}">
        <p14:creationId xmlns:p14="http://schemas.microsoft.com/office/powerpoint/2010/main" val="23650342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5A5F5FF-3262-1ABA-4A98-DB9F226C8CB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669D40F-85A2-086A-2F03-4EF8BA78EBF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08DF0CB-33F7-4638-6E48-7F20C5008445}"/>
              </a:ext>
            </a:extLst>
          </p:cNvPr>
          <p:cNvSpPr>
            <a:spLocks noGrp="1"/>
          </p:cNvSpPr>
          <p:nvPr>
            <p:ph type="dt" sz="half" idx="10"/>
          </p:nvPr>
        </p:nvSpPr>
        <p:spPr/>
        <p:txBody>
          <a:bodyPr/>
          <a:lstStyle/>
          <a:p>
            <a:fld id="{6ECF08CB-49A1-43D4-9E9B-0DBBFBE54C08}" type="datetime1">
              <a:rPr lang="en-US" smtClean="0"/>
              <a:t>10/24/26</a:t>
            </a:fld>
            <a:endParaRPr lang="en-US"/>
          </a:p>
        </p:txBody>
      </p:sp>
      <p:sp>
        <p:nvSpPr>
          <p:cNvPr id="5" name="Footer Placeholder 4">
            <a:extLst>
              <a:ext uri="{FF2B5EF4-FFF2-40B4-BE49-F238E27FC236}">
                <a16:creationId xmlns:a16="http://schemas.microsoft.com/office/drawing/2014/main" id="{DFE56582-C86D-F1A9-49A7-3C3CBE9C50A1}"/>
              </a:ext>
            </a:extLst>
          </p:cNvPr>
          <p:cNvSpPr>
            <a:spLocks noGrp="1"/>
          </p:cNvSpPr>
          <p:nvPr>
            <p:ph type="ftr" sz="quarter" idx="11"/>
          </p:nvPr>
        </p:nvSpPr>
        <p:spPr/>
        <p:txBody>
          <a:bodyPr/>
          <a:lstStyle/>
          <a:p>
            <a:r>
              <a:rPr lang="en-US"/>
              <a:t>CF Webtools      |      Omaha, NE</a:t>
            </a:r>
          </a:p>
        </p:txBody>
      </p:sp>
      <p:sp>
        <p:nvSpPr>
          <p:cNvPr id="6" name="Slide Number Placeholder 5">
            <a:extLst>
              <a:ext uri="{FF2B5EF4-FFF2-40B4-BE49-F238E27FC236}">
                <a16:creationId xmlns:a16="http://schemas.microsoft.com/office/drawing/2014/main" id="{DB0C0C90-42DB-0911-E6D8-90472AFEC356}"/>
              </a:ext>
            </a:extLst>
          </p:cNvPr>
          <p:cNvSpPr>
            <a:spLocks noGrp="1"/>
          </p:cNvSpPr>
          <p:nvPr>
            <p:ph type="sldNum" sz="quarter" idx="12"/>
          </p:nvPr>
        </p:nvSpPr>
        <p:spPr/>
        <p:txBody>
          <a:bodyPr/>
          <a:lstStyle/>
          <a:p>
            <a:fld id="{914A60B4-844F-477C-B38E-A2977EEFAE90}" type="slidenum">
              <a:rPr lang="en-US" smtClean="0"/>
              <a:t>‹#›</a:t>
            </a:fld>
            <a:endParaRPr lang="en-US"/>
          </a:p>
        </p:txBody>
      </p:sp>
    </p:spTree>
    <p:extLst>
      <p:ext uri="{BB962C8B-B14F-4D97-AF65-F5344CB8AC3E}">
        <p14:creationId xmlns:p14="http://schemas.microsoft.com/office/powerpoint/2010/main" val="26412983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F08592-1AEE-6102-4B7D-78D8E97DE46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6527012-021F-42B1-5D79-285BACDC1C6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F4194A-C04D-59D0-028C-742DED7BC4D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6644D5E-C3C0-4BE1-A478-33544A5F7BFF}" type="datetime1">
              <a:rPr lang="en-US" smtClean="0"/>
              <a:t>10/24/26</a:t>
            </a:fld>
            <a:endParaRPr lang="en-US"/>
          </a:p>
        </p:txBody>
      </p:sp>
      <p:sp>
        <p:nvSpPr>
          <p:cNvPr id="5" name="Footer Placeholder 4">
            <a:extLst>
              <a:ext uri="{FF2B5EF4-FFF2-40B4-BE49-F238E27FC236}">
                <a16:creationId xmlns:a16="http://schemas.microsoft.com/office/drawing/2014/main" id="{562F8422-54E3-2188-9D93-98178126A97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CF Webtools      |      Omaha, NE</a:t>
            </a:r>
          </a:p>
        </p:txBody>
      </p:sp>
      <p:sp>
        <p:nvSpPr>
          <p:cNvPr id="6" name="Slide Number Placeholder 5">
            <a:extLst>
              <a:ext uri="{FF2B5EF4-FFF2-40B4-BE49-F238E27FC236}">
                <a16:creationId xmlns:a16="http://schemas.microsoft.com/office/drawing/2014/main" id="{5068A0B4-F7B8-8514-4B1C-E4090F3DE3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4A60B4-844F-477C-B38E-A2977EEFAE90}" type="slidenum">
              <a:rPr lang="en-US" smtClean="0"/>
              <a:t>‹#›</a:t>
            </a:fld>
            <a:endParaRPr lang="en-US"/>
          </a:p>
        </p:txBody>
      </p:sp>
    </p:spTree>
    <p:extLst>
      <p:ext uri="{BB962C8B-B14F-4D97-AF65-F5344CB8AC3E}">
        <p14:creationId xmlns:p14="http://schemas.microsoft.com/office/powerpoint/2010/main" val="23675670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youtube.com/@geektalk2004"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knittingguy"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mcpservers.org/" TargetMode="External"/><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hyperlink" Target="https://mcpservers.org/servers/mark3labs/mcp-filesystem-server" TargetMode="Externa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developer.mozilla.org/en-US/docs/Web/API/Web_Speech_API"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white background with hexagons&#10;&#10;Description automatically generated">
            <a:extLst>
              <a:ext uri="{FF2B5EF4-FFF2-40B4-BE49-F238E27FC236}">
                <a16:creationId xmlns:a16="http://schemas.microsoft.com/office/drawing/2014/main" id="{57167341-08E4-3FAE-09CA-8A71930D4A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extBox 1">
            <a:extLst>
              <a:ext uri="{FF2B5EF4-FFF2-40B4-BE49-F238E27FC236}">
                <a16:creationId xmlns:a16="http://schemas.microsoft.com/office/drawing/2014/main" id="{AF1FBD9A-BC88-48B5-137F-AC54A2E234E0}"/>
              </a:ext>
            </a:extLst>
          </p:cNvPr>
          <p:cNvSpPr txBox="1"/>
          <p:nvPr/>
        </p:nvSpPr>
        <p:spPr>
          <a:xfrm>
            <a:off x="1542473" y="2844800"/>
            <a:ext cx="9596582" cy="2123658"/>
          </a:xfrm>
          <a:prstGeom prst="rect">
            <a:avLst/>
          </a:prstGeom>
          <a:noFill/>
        </p:spPr>
        <p:txBody>
          <a:bodyPr wrap="square" rtlCol="0">
            <a:spAutoFit/>
          </a:bodyPr>
          <a:lstStyle/>
          <a:p>
            <a:pPr algn="l"/>
            <a:r>
              <a:rPr lang="en-US" sz="4400" b="0" i="0" strike="noStrike" dirty="0">
                <a:solidFill>
                  <a:srgbClr val="444444"/>
                </a:solidFill>
                <a:effectLst/>
                <a:latin typeface="adobe-clean"/>
              </a:rPr>
              <a:t>How to create a "J.A.R.V.I.S." for your codebase using some of the new AI features in ColdFusion</a:t>
            </a:r>
          </a:p>
        </p:txBody>
      </p:sp>
      <p:sp>
        <p:nvSpPr>
          <p:cNvPr id="4" name="TextBox 3">
            <a:extLst>
              <a:ext uri="{FF2B5EF4-FFF2-40B4-BE49-F238E27FC236}">
                <a16:creationId xmlns:a16="http://schemas.microsoft.com/office/drawing/2014/main" id="{F702E54B-7D40-F5E7-567B-A3A643F3450B}"/>
              </a:ext>
            </a:extLst>
          </p:cNvPr>
          <p:cNvSpPr txBox="1"/>
          <p:nvPr/>
        </p:nvSpPr>
        <p:spPr>
          <a:xfrm>
            <a:off x="3196294" y="5231035"/>
            <a:ext cx="9596582" cy="523220"/>
          </a:xfrm>
          <a:prstGeom prst="rect">
            <a:avLst/>
          </a:prstGeom>
          <a:noFill/>
        </p:spPr>
        <p:txBody>
          <a:bodyPr wrap="square" rtlCol="0">
            <a:spAutoFit/>
          </a:bodyPr>
          <a:lstStyle/>
          <a:p>
            <a:pPr algn="ctr"/>
            <a:r>
              <a:rPr lang="en-US" sz="2800" dirty="0">
                <a:solidFill>
                  <a:srgbClr val="002060"/>
                </a:solidFill>
                <a:latin typeface="Roboto" panose="02000000000000000000" pitchFamily="2" charset="0"/>
                <a:ea typeface="Roboto" panose="02000000000000000000" pitchFamily="2" charset="0"/>
              </a:rPr>
              <a:t>Presented by: Monte Chan</a:t>
            </a:r>
          </a:p>
        </p:txBody>
      </p:sp>
    </p:spTree>
    <p:extLst>
      <p:ext uri="{BB962C8B-B14F-4D97-AF65-F5344CB8AC3E}">
        <p14:creationId xmlns:p14="http://schemas.microsoft.com/office/powerpoint/2010/main" val="4354561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E5715E08-146D-0759-2720-E84D70786BC1}"/>
              </a:ext>
            </a:extLst>
          </p:cNvPr>
          <p:cNvPicPr>
            <a:picLocks noChangeAspect="1"/>
          </p:cNvPicPr>
          <p:nvPr/>
        </p:nvPicPr>
        <p:blipFill>
          <a:blip r:embed="rId2"/>
          <a:stretch>
            <a:fillRect/>
          </a:stretch>
        </p:blipFill>
        <p:spPr>
          <a:xfrm>
            <a:off x="-11151" y="0"/>
            <a:ext cx="12188952" cy="6858000"/>
          </a:xfrm>
          <a:prstGeom prst="rect">
            <a:avLst/>
          </a:prstGeom>
        </p:spPr>
      </p:pic>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Freeform: Shape 1">
            <a:extLst>
              <a:ext uri="{FF2B5EF4-FFF2-40B4-BE49-F238E27FC236}">
                <a16:creationId xmlns:a16="http://schemas.microsoft.com/office/drawing/2014/main" id="{6DAD8027-1835-30F1-2138-FEEFB4294F47}"/>
              </a:ext>
            </a:extLst>
          </p:cNvPr>
          <p:cNvSpPr/>
          <p:nvPr/>
        </p:nvSpPr>
        <p:spPr>
          <a:xfrm>
            <a:off x="-11151" y="5700713"/>
            <a:ext cx="12243125" cy="585067"/>
          </a:xfrm>
          <a:custGeom>
            <a:avLst/>
            <a:gdLst>
              <a:gd name="connsiteX0" fmla="*/ 0 w 12243125"/>
              <a:gd name="connsiteY0" fmla="*/ 186706 h 2145814"/>
              <a:gd name="connsiteX1" fmla="*/ 3880624 w 12243125"/>
              <a:gd name="connsiteY1" fmla="*/ 186706 h 2145814"/>
              <a:gd name="connsiteX2" fmla="*/ 9088244 w 12243125"/>
              <a:gd name="connsiteY2" fmla="*/ 2127018 h 2145814"/>
              <a:gd name="connsiteX3" fmla="*/ 11976410 w 12243125"/>
              <a:gd name="connsiteY3" fmla="*/ 1223770 h 2145814"/>
              <a:gd name="connsiteX4" fmla="*/ 12132527 w 12243125"/>
              <a:gd name="connsiteY4" fmla="*/ 1179165 h 2145814"/>
              <a:gd name="connsiteX5" fmla="*/ 12132527 w 12243125"/>
              <a:gd name="connsiteY5" fmla="*/ 1190316 h 2145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243125" h="2145814">
                <a:moveTo>
                  <a:pt x="0" y="186706"/>
                </a:moveTo>
                <a:cubicBezTo>
                  <a:pt x="1182958" y="25013"/>
                  <a:pt x="2365917" y="-136679"/>
                  <a:pt x="3880624" y="186706"/>
                </a:cubicBezTo>
                <a:cubicBezTo>
                  <a:pt x="5395331" y="510091"/>
                  <a:pt x="7738946" y="1954174"/>
                  <a:pt x="9088244" y="2127018"/>
                </a:cubicBezTo>
                <a:cubicBezTo>
                  <a:pt x="10437542" y="2299862"/>
                  <a:pt x="11976410" y="1223770"/>
                  <a:pt x="11976410" y="1223770"/>
                </a:cubicBezTo>
                <a:cubicBezTo>
                  <a:pt x="12483791" y="1065795"/>
                  <a:pt x="12106508" y="1184741"/>
                  <a:pt x="12132527" y="1179165"/>
                </a:cubicBezTo>
                <a:cubicBezTo>
                  <a:pt x="12158547" y="1173589"/>
                  <a:pt x="12145537" y="1181952"/>
                  <a:pt x="12132527" y="1190316"/>
                </a:cubicBezTo>
              </a:path>
            </a:pathLst>
          </a:custGeom>
          <a:noFill/>
          <a:effectLst>
            <a:reflection blurRad="6350" stA="53000" endPos="35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9E3EEE10-82D5-87E4-5878-1CDBB4D30E23}"/>
              </a:ext>
            </a:extLst>
          </p:cNvPr>
          <p:cNvSpPr txBox="1"/>
          <p:nvPr/>
        </p:nvSpPr>
        <p:spPr>
          <a:xfrm>
            <a:off x="566057" y="572220"/>
            <a:ext cx="3302558" cy="523220"/>
          </a:xfrm>
          <a:prstGeom prst="rect">
            <a:avLst/>
          </a:prstGeom>
          <a:noFill/>
        </p:spPr>
        <p:txBody>
          <a:bodyPr wrap="square" rtlCol="0">
            <a:spAutoFit/>
          </a:bodyPr>
          <a:lstStyle/>
          <a:p>
            <a:r>
              <a:rPr lang="en-US" sz="2800" dirty="0"/>
              <a:t>Who is Monte Chan?</a:t>
            </a:r>
          </a:p>
        </p:txBody>
      </p:sp>
      <p:sp>
        <p:nvSpPr>
          <p:cNvPr id="5" name="TextBox 4">
            <a:extLst>
              <a:ext uri="{FF2B5EF4-FFF2-40B4-BE49-F238E27FC236}">
                <a16:creationId xmlns:a16="http://schemas.microsoft.com/office/drawing/2014/main" id="{EF36D861-DF68-5C6D-8119-18A5814B2A68}"/>
              </a:ext>
            </a:extLst>
          </p:cNvPr>
          <p:cNvSpPr txBox="1"/>
          <p:nvPr/>
        </p:nvSpPr>
        <p:spPr>
          <a:xfrm>
            <a:off x="675249" y="1567027"/>
            <a:ext cx="11015003" cy="3785652"/>
          </a:xfrm>
          <a:prstGeom prst="rect">
            <a:avLst/>
          </a:prstGeom>
          <a:noFill/>
        </p:spPr>
        <p:txBody>
          <a:bodyPr wrap="square" rtlCol="0">
            <a:spAutoFit/>
          </a:bodyPr>
          <a:lstStyle/>
          <a:p>
            <a:pPr marL="285750" indent="-285750">
              <a:buFont typeface="Arial" panose="020B0604020202020204" pitchFamily="34" charset="0"/>
              <a:buChar char="•"/>
            </a:pPr>
            <a:r>
              <a:rPr lang="en-US" sz="2400" dirty="0"/>
              <a:t>Senior ColdFusion Developer at Shoes For Crews</a:t>
            </a:r>
          </a:p>
          <a:p>
            <a:pPr marL="285750" indent="-285750">
              <a:buFont typeface="Arial" panose="020B0604020202020204" pitchFamily="34" charset="0"/>
              <a:buChar char="•"/>
            </a:pPr>
            <a:r>
              <a:rPr lang="en-US" sz="2400" dirty="0"/>
              <a:t>Has used ColdFusion since version 4.5 back in 1999</a:t>
            </a:r>
          </a:p>
          <a:p>
            <a:pPr marL="285750" indent="-285750">
              <a:buFont typeface="Arial" panose="020B0604020202020204" pitchFamily="34" charset="0"/>
              <a:buChar char="•"/>
            </a:pPr>
            <a:r>
              <a:rPr lang="en-US" sz="2400" dirty="0"/>
              <a:t>Has developed web applications which were used in different industries (ex. Health insurance, education, </a:t>
            </a:r>
            <a:r>
              <a:rPr lang="en-US" sz="2400" dirty="0" err="1"/>
              <a:t>finTech</a:t>
            </a:r>
            <a:r>
              <a:rPr lang="en-US" sz="2400" dirty="0"/>
              <a:t>, e-commerce…etc.) </a:t>
            </a:r>
          </a:p>
          <a:p>
            <a:pPr marL="285750" indent="-285750">
              <a:buFont typeface="Arial" panose="020B0604020202020204" pitchFamily="34" charset="0"/>
              <a:buChar char="•"/>
            </a:pPr>
            <a:r>
              <a:rPr lang="en-US" sz="2400" dirty="0"/>
              <a:t>Was one of the co-managers of Alamo ColdFusion User Group</a:t>
            </a:r>
          </a:p>
          <a:p>
            <a:pPr marL="285750" indent="-285750">
              <a:buFont typeface="Arial" panose="020B0604020202020204" pitchFamily="34" charset="0"/>
              <a:buChar char="•"/>
            </a:pPr>
            <a:r>
              <a:rPr lang="en-US" sz="2400" dirty="0"/>
              <a:t>Has a </a:t>
            </a:r>
            <a:r>
              <a:rPr lang="en-US" sz="2400" dirty="0" err="1"/>
              <a:t>youTube</a:t>
            </a:r>
            <a:r>
              <a:rPr lang="en-US" sz="2400" dirty="0"/>
              <a:t> channel, Geek Talk. </a:t>
            </a:r>
            <a:r>
              <a:rPr lang="en-US" sz="2400" dirty="0">
                <a:hlinkClick r:id="rId3"/>
              </a:rPr>
              <a:t>https://www.youtube.com/@geektalk2004</a:t>
            </a:r>
            <a:endParaRPr lang="en-US" sz="2400" dirty="0"/>
          </a:p>
          <a:p>
            <a:pPr marL="285750" indent="-285750">
              <a:buFont typeface="Arial" panose="020B0604020202020204" pitchFamily="34" charset="0"/>
              <a:buChar char="•"/>
            </a:pPr>
            <a:r>
              <a:rPr lang="en-US" sz="2400" dirty="0"/>
              <a:t>On different social media platforms but mostly on Facebook.  You can find me on Facebook at https://</a:t>
            </a:r>
            <a:r>
              <a:rPr lang="en-US" sz="2400" dirty="0" err="1"/>
              <a:t>www.facebook.com</a:t>
            </a:r>
            <a:r>
              <a:rPr lang="en-US" sz="2400" dirty="0"/>
              <a:t>/</a:t>
            </a:r>
            <a:r>
              <a:rPr lang="en-US" sz="2400" dirty="0" err="1"/>
              <a:t>monte.chan</a:t>
            </a:r>
            <a:r>
              <a:rPr lang="en-US" sz="2400" dirty="0"/>
              <a:t>/</a:t>
            </a:r>
          </a:p>
          <a:p>
            <a:pPr marL="285750" indent="-285750">
              <a:buFont typeface="Arial" panose="020B0604020202020204" pitchFamily="34" charset="0"/>
              <a:buChar char="•"/>
            </a:pPr>
            <a:r>
              <a:rPr lang="en-US" sz="2400" dirty="0"/>
              <a:t>You can email me at </a:t>
            </a:r>
            <a:r>
              <a:rPr lang="en-US" sz="2400" dirty="0" err="1"/>
              <a:t>monte@monteandjanicechan.com</a:t>
            </a:r>
            <a:r>
              <a:rPr lang="en-US" sz="2400" dirty="0"/>
              <a:t> but you may get a quicker response if you send me a message in Facebook Messenger.</a:t>
            </a:r>
          </a:p>
        </p:txBody>
      </p:sp>
    </p:spTree>
    <p:extLst>
      <p:ext uri="{BB962C8B-B14F-4D97-AF65-F5344CB8AC3E}">
        <p14:creationId xmlns:p14="http://schemas.microsoft.com/office/powerpoint/2010/main" val="28854520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E5715E08-146D-0759-2720-E84D70786BC1}"/>
              </a:ext>
            </a:extLst>
          </p:cNvPr>
          <p:cNvPicPr>
            <a:picLocks noChangeAspect="1"/>
          </p:cNvPicPr>
          <p:nvPr/>
        </p:nvPicPr>
        <p:blipFill>
          <a:blip r:embed="rId2"/>
          <a:stretch>
            <a:fillRect/>
          </a:stretch>
        </p:blipFill>
        <p:spPr>
          <a:xfrm>
            <a:off x="-11151" y="0"/>
            <a:ext cx="12188952" cy="6858000"/>
          </a:xfrm>
          <a:prstGeom prst="rect">
            <a:avLst/>
          </a:prstGeom>
        </p:spPr>
      </p:pic>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Footer Placeholder 10">
            <a:extLst>
              <a:ext uri="{FF2B5EF4-FFF2-40B4-BE49-F238E27FC236}">
                <a16:creationId xmlns:a16="http://schemas.microsoft.com/office/drawing/2014/main" id="{BB1C0603-8047-1EA8-656C-93CC9FF56BB4}"/>
              </a:ext>
            </a:extLst>
          </p:cNvPr>
          <p:cNvSpPr>
            <a:spLocks noGrp="1"/>
          </p:cNvSpPr>
          <p:nvPr>
            <p:ph type="ftr" sz="quarter" idx="11"/>
          </p:nvPr>
        </p:nvSpPr>
        <p:spPr>
          <a:xfrm>
            <a:off x="8696325" y="6462298"/>
            <a:ext cx="4114800" cy="365125"/>
          </a:xfrm>
        </p:spPr>
        <p:txBody>
          <a:bodyPr/>
          <a:lstStyle/>
          <a:p>
            <a:r>
              <a:rPr lang="en-US" sz="1400" dirty="0">
                <a:latin typeface="DunbarTall" panose="00000000000000020000" pitchFamily="50" charset="0"/>
              </a:rPr>
              <a:t>	 </a:t>
            </a:r>
          </a:p>
        </p:txBody>
      </p:sp>
      <p:sp>
        <p:nvSpPr>
          <p:cNvPr id="2" name="Freeform: Shape 1">
            <a:extLst>
              <a:ext uri="{FF2B5EF4-FFF2-40B4-BE49-F238E27FC236}">
                <a16:creationId xmlns:a16="http://schemas.microsoft.com/office/drawing/2014/main" id="{6DAD8027-1835-30F1-2138-FEEFB4294F47}"/>
              </a:ext>
            </a:extLst>
          </p:cNvPr>
          <p:cNvSpPr/>
          <p:nvPr/>
        </p:nvSpPr>
        <p:spPr>
          <a:xfrm>
            <a:off x="-11151" y="5700713"/>
            <a:ext cx="12243125" cy="585067"/>
          </a:xfrm>
          <a:custGeom>
            <a:avLst/>
            <a:gdLst>
              <a:gd name="connsiteX0" fmla="*/ 0 w 12243125"/>
              <a:gd name="connsiteY0" fmla="*/ 186706 h 2145814"/>
              <a:gd name="connsiteX1" fmla="*/ 3880624 w 12243125"/>
              <a:gd name="connsiteY1" fmla="*/ 186706 h 2145814"/>
              <a:gd name="connsiteX2" fmla="*/ 9088244 w 12243125"/>
              <a:gd name="connsiteY2" fmla="*/ 2127018 h 2145814"/>
              <a:gd name="connsiteX3" fmla="*/ 11976410 w 12243125"/>
              <a:gd name="connsiteY3" fmla="*/ 1223770 h 2145814"/>
              <a:gd name="connsiteX4" fmla="*/ 12132527 w 12243125"/>
              <a:gd name="connsiteY4" fmla="*/ 1179165 h 2145814"/>
              <a:gd name="connsiteX5" fmla="*/ 12132527 w 12243125"/>
              <a:gd name="connsiteY5" fmla="*/ 1190316 h 2145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243125" h="2145814">
                <a:moveTo>
                  <a:pt x="0" y="186706"/>
                </a:moveTo>
                <a:cubicBezTo>
                  <a:pt x="1182958" y="25013"/>
                  <a:pt x="2365917" y="-136679"/>
                  <a:pt x="3880624" y="186706"/>
                </a:cubicBezTo>
                <a:cubicBezTo>
                  <a:pt x="5395331" y="510091"/>
                  <a:pt x="7738946" y="1954174"/>
                  <a:pt x="9088244" y="2127018"/>
                </a:cubicBezTo>
                <a:cubicBezTo>
                  <a:pt x="10437542" y="2299862"/>
                  <a:pt x="11976410" y="1223770"/>
                  <a:pt x="11976410" y="1223770"/>
                </a:cubicBezTo>
                <a:cubicBezTo>
                  <a:pt x="12483791" y="1065795"/>
                  <a:pt x="12106508" y="1184741"/>
                  <a:pt x="12132527" y="1179165"/>
                </a:cubicBezTo>
                <a:cubicBezTo>
                  <a:pt x="12158547" y="1173589"/>
                  <a:pt x="12145537" y="1181952"/>
                  <a:pt x="12132527" y="1190316"/>
                </a:cubicBezTo>
              </a:path>
            </a:pathLst>
          </a:custGeom>
          <a:noFill/>
          <a:effectLst>
            <a:reflection blurRad="6350" stA="53000" endPos="35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9E3EEE10-82D5-87E4-5878-1CDBB4D30E23}"/>
              </a:ext>
            </a:extLst>
          </p:cNvPr>
          <p:cNvSpPr txBox="1"/>
          <p:nvPr/>
        </p:nvSpPr>
        <p:spPr>
          <a:xfrm>
            <a:off x="566057" y="572220"/>
            <a:ext cx="3302558" cy="523220"/>
          </a:xfrm>
          <a:prstGeom prst="rect">
            <a:avLst/>
          </a:prstGeom>
          <a:noFill/>
        </p:spPr>
        <p:txBody>
          <a:bodyPr wrap="square" rtlCol="0">
            <a:spAutoFit/>
          </a:bodyPr>
          <a:lstStyle/>
          <a:p>
            <a:r>
              <a:rPr lang="en-US" sz="2800" dirty="0"/>
              <a:t>Before we begin…</a:t>
            </a:r>
          </a:p>
        </p:txBody>
      </p:sp>
      <p:sp>
        <p:nvSpPr>
          <p:cNvPr id="5" name="TextBox 4">
            <a:extLst>
              <a:ext uri="{FF2B5EF4-FFF2-40B4-BE49-F238E27FC236}">
                <a16:creationId xmlns:a16="http://schemas.microsoft.com/office/drawing/2014/main" id="{EF36D861-DF68-5C6D-8119-18A5814B2A68}"/>
              </a:ext>
            </a:extLst>
          </p:cNvPr>
          <p:cNvSpPr txBox="1"/>
          <p:nvPr/>
        </p:nvSpPr>
        <p:spPr>
          <a:xfrm>
            <a:off x="675249" y="1567027"/>
            <a:ext cx="11015003"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The presentation slides will be uploaded to my </a:t>
            </a:r>
            <a:r>
              <a:rPr lang="en-US" sz="2400" dirty="0" err="1"/>
              <a:t>Github</a:t>
            </a:r>
            <a:r>
              <a:rPr lang="en-US" sz="2400" dirty="0"/>
              <a:t> account at </a:t>
            </a:r>
            <a:r>
              <a:rPr lang="en-US" sz="2400" dirty="0">
                <a:hlinkClick r:id="rId3"/>
              </a:rPr>
              <a:t>https://github.com/knittingguy</a:t>
            </a:r>
            <a:endParaRPr lang="en-US" sz="2400" dirty="0"/>
          </a:p>
          <a:p>
            <a:pPr marL="285750" indent="-285750">
              <a:buFont typeface="Arial" panose="020B0604020202020204" pitchFamily="34" charset="0"/>
              <a:buChar char="•"/>
            </a:pPr>
            <a:r>
              <a:rPr lang="en-US" sz="2400" dirty="0"/>
              <a:t>Inspiration:  </a:t>
            </a:r>
            <a:r>
              <a:rPr lang="en-US" sz="2400" dirty="0" err="1"/>
              <a:t>Github</a:t>
            </a:r>
            <a:r>
              <a:rPr lang="en-US" sz="2400" dirty="0"/>
              <a:t> </a:t>
            </a:r>
            <a:r>
              <a:rPr lang="en-US" sz="2400" dirty="0" err="1"/>
              <a:t>CodeQL</a:t>
            </a:r>
            <a:r>
              <a:rPr lang="en-US" sz="2400" dirty="0"/>
              <a:t> – semantic search on your codebase.  Treating your codebase as data.  Combining the AI chat capabilities with your codebase.  Essentially, it is a poor man version of J.A.R.V.I.S. on your codebase.  </a:t>
            </a:r>
          </a:p>
          <a:p>
            <a:pPr marL="285750" indent="-285750">
              <a:buFont typeface="Arial" panose="020B0604020202020204" pitchFamily="34" charset="0"/>
              <a:buChar char="•"/>
            </a:pPr>
            <a:r>
              <a:rPr lang="en-US" sz="2400" dirty="0"/>
              <a:t>“With great power comes … great self-indulgence.” --- Ben Nadel</a:t>
            </a:r>
          </a:p>
          <a:p>
            <a:endParaRPr lang="en-US" sz="2400" dirty="0"/>
          </a:p>
        </p:txBody>
      </p:sp>
    </p:spTree>
    <p:extLst>
      <p:ext uri="{BB962C8B-B14F-4D97-AF65-F5344CB8AC3E}">
        <p14:creationId xmlns:p14="http://schemas.microsoft.com/office/powerpoint/2010/main" val="32120586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530EB7F-C55B-6176-476A-12CF24B64E17}"/>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56A4C503-754C-F836-01FF-8441F9802EC0}"/>
              </a:ext>
            </a:extLst>
          </p:cNvPr>
          <p:cNvPicPr>
            <a:picLocks noChangeAspect="1"/>
          </p:cNvPicPr>
          <p:nvPr/>
        </p:nvPicPr>
        <p:blipFill>
          <a:blip r:embed="rId2"/>
          <a:stretch>
            <a:fillRect/>
          </a:stretch>
        </p:blipFill>
        <p:spPr>
          <a:xfrm>
            <a:off x="-11151" y="-6271"/>
            <a:ext cx="12188952" cy="6864271"/>
          </a:xfrm>
          <a:prstGeom prst="rect">
            <a:avLst/>
          </a:prstGeom>
        </p:spPr>
      </p:pic>
      <p:sp>
        <p:nvSpPr>
          <p:cNvPr id="10" name="Rectangle 9">
            <a:extLst>
              <a:ext uri="{FF2B5EF4-FFF2-40B4-BE49-F238E27FC236}">
                <a16:creationId xmlns:a16="http://schemas.microsoft.com/office/drawing/2014/main" id="{CFE8CFDD-9079-B347-F4CB-9B6B034840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Footer Placeholder 10">
            <a:extLst>
              <a:ext uri="{FF2B5EF4-FFF2-40B4-BE49-F238E27FC236}">
                <a16:creationId xmlns:a16="http://schemas.microsoft.com/office/drawing/2014/main" id="{33A906F5-05BA-178E-74E3-33673F75239E}"/>
              </a:ext>
            </a:extLst>
          </p:cNvPr>
          <p:cNvSpPr>
            <a:spLocks noGrp="1"/>
          </p:cNvSpPr>
          <p:nvPr>
            <p:ph type="ftr" sz="quarter" idx="11"/>
          </p:nvPr>
        </p:nvSpPr>
        <p:spPr>
          <a:xfrm>
            <a:off x="8696325" y="6462298"/>
            <a:ext cx="4114800" cy="365125"/>
          </a:xfrm>
        </p:spPr>
        <p:txBody>
          <a:bodyPr/>
          <a:lstStyle/>
          <a:p>
            <a:r>
              <a:rPr lang="en-US" sz="1400" dirty="0">
                <a:latin typeface="DunbarTall" panose="00000000000000020000" pitchFamily="50" charset="0"/>
              </a:rPr>
              <a:t>	 </a:t>
            </a:r>
          </a:p>
        </p:txBody>
      </p:sp>
      <p:sp>
        <p:nvSpPr>
          <p:cNvPr id="2" name="Freeform: Shape 1">
            <a:extLst>
              <a:ext uri="{FF2B5EF4-FFF2-40B4-BE49-F238E27FC236}">
                <a16:creationId xmlns:a16="http://schemas.microsoft.com/office/drawing/2014/main" id="{B1EFF4A9-A25C-8066-1704-6A9C62D39910}"/>
              </a:ext>
            </a:extLst>
          </p:cNvPr>
          <p:cNvSpPr/>
          <p:nvPr/>
        </p:nvSpPr>
        <p:spPr>
          <a:xfrm>
            <a:off x="-11151" y="5700713"/>
            <a:ext cx="12243125" cy="585067"/>
          </a:xfrm>
          <a:custGeom>
            <a:avLst/>
            <a:gdLst>
              <a:gd name="connsiteX0" fmla="*/ 0 w 12243125"/>
              <a:gd name="connsiteY0" fmla="*/ 186706 h 2145814"/>
              <a:gd name="connsiteX1" fmla="*/ 3880624 w 12243125"/>
              <a:gd name="connsiteY1" fmla="*/ 186706 h 2145814"/>
              <a:gd name="connsiteX2" fmla="*/ 9088244 w 12243125"/>
              <a:gd name="connsiteY2" fmla="*/ 2127018 h 2145814"/>
              <a:gd name="connsiteX3" fmla="*/ 11976410 w 12243125"/>
              <a:gd name="connsiteY3" fmla="*/ 1223770 h 2145814"/>
              <a:gd name="connsiteX4" fmla="*/ 12132527 w 12243125"/>
              <a:gd name="connsiteY4" fmla="*/ 1179165 h 2145814"/>
              <a:gd name="connsiteX5" fmla="*/ 12132527 w 12243125"/>
              <a:gd name="connsiteY5" fmla="*/ 1190316 h 2145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243125" h="2145814">
                <a:moveTo>
                  <a:pt x="0" y="186706"/>
                </a:moveTo>
                <a:cubicBezTo>
                  <a:pt x="1182958" y="25013"/>
                  <a:pt x="2365917" y="-136679"/>
                  <a:pt x="3880624" y="186706"/>
                </a:cubicBezTo>
                <a:cubicBezTo>
                  <a:pt x="5395331" y="510091"/>
                  <a:pt x="7738946" y="1954174"/>
                  <a:pt x="9088244" y="2127018"/>
                </a:cubicBezTo>
                <a:cubicBezTo>
                  <a:pt x="10437542" y="2299862"/>
                  <a:pt x="11976410" y="1223770"/>
                  <a:pt x="11976410" y="1223770"/>
                </a:cubicBezTo>
                <a:cubicBezTo>
                  <a:pt x="12483791" y="1065795"/>
                  <a:pt x="12106508" y="1184741"/>
                  <a:pt x="12132527" y="1179165"/>
                </a:cubicBezTo>
                <a:cubicBezTo>
                  <a:pt x="12158547" y="1173589"/>
                  <a:pt x="12145537" y="1181952"/>
                  <a:pt x="12132527" y="1190316"/>
                </a:cubicBezTo>
              </a:path>
            </a:pathLst>
          </a:custGeom>
          <a:noFill/>
          <a:effectLst>
            <a:reflection blurRad="6350" stA="53000" endPos="35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9566E780-707B-DF0F-6D9C-7CBE09010419}"/>
              </a:ext>
            </a:extLst>
          </p:cNvPr>
          <p:cNvSpPr txBox="1"/>
          <p:nvPr/>
        </p:nvSpPr>
        <p:spPr>
          <a:xfrm>
            <a:off x="462987" y="572220"/>
            <a:ext cx="11100122" cy="7386638"/>
          </a:xfrm>
          <a:prstGeom prst="rect">
            <a:avLst/>
          </a:prstGeom>
          <a:noFill/>
        </p:spPr>
        <p:txBody>
          <a:bodyPr wrap="square" rtlCol="0">
            <a:spAutoFit/>
          </a:bodyPr>
          <a:lstStyle/>
          <a:p>
            <a:r>
              <a:rPr lang="en-US" sz="2400" dirty="0"/>
              <a:t>What you need</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A codebase </a:t>
            </a:r>
          </a:p>
          <a:p>
            <a:pPr marL="285750" indent="-285750">
              <a:buFont typeface="Arial" panose="020B0604020202020204" pitchFamily="34" charset="0"/>
              <a:buChar char="•"/>
            </a:pPr>
            <a:r>
              <a:rPr lang="en-US" sz="2400" dirty="0"/>
              <a:t>ColdFusion 2025 Update 8</a:t>
            </a:r>
          </a:p>
          <a:p>
            <a:pPr marL="285750" indent="-285750">
              <a:buFont typeface="Arial" panose="020B0604020202020204" pitchFamily="34" charset="0"/>
              <a:buChar char="•"/>
            </a:pPr>
            <a:r>
              <a:rPr lang="en-US" sz="2400" dirty="0"/>
              <a:t>Vector store (</a:t>
            </a:r>
            <a:r>
              <a:rPr lang="en-US" sz="2400" dirty="0" err="1"/>
              <a:t>Qdrant</a:t>
            </a:r>
            <a:r>
              <a:rPr lang="en-US" sz="2400" dirty="0"/>
              <a:t>, Milvus, Pinecone, or Chroma)</a:t>
            </a:r>
          </a:p>
          <a:p>
            <a:pPr marL="742950" lvl="1" indent="-285750">
              <a:buFont typeface="Arial" panose="020B0604020202020204" pitchFamily="34" charset="0"/>
              <a:buChar char="•"/>
            </a:pPr>
            <a:r>
              <a:rPr lang="en-US" sz="2400" dirty="0"/>
              <a:t>While CF 2025 supports </a:t>
            </a:r>
            <a:r>
              <a:rPr lang="en-US" sz="2400" dirty="0" err="1"/>
              <a:t>inmemory</a:t>
            </a:r>
            <a:r>
              <a:rPr lang="en-US" sz="2400" dirty="0"/>
              <a:t>, a codebase is too much information to be stored in memory </a:t>
            </a:r>
          </a:p>
          <a:p>
            <a:pPr marL="285750" indent="-285750">
              <a:buFont typeface="Arial" panose="020B0604020202020204" pitchFamily="34" charset="0"/>
              <a:buChar char="•"/>
            </a:pPr>
            <a:r>
              <a:rPr lang="en-US" sz="2400" dirty="0"/>
              <a:t>LLM</a:t>
            </a:r>
          </a:p>
          <a:p>
            <a:pPr marL="285750" indent="-285750">
              <a:buFont typeface="Arial" panose="020B0604020202020204" pitchFamily="34" charset="0"/>
              <a:buChar char="•"/>
            </a:pPr>
            <a:r>
              <a:rPr lang="en-US" sz="2400" dirty="0"/>
              <a:t>Script to ingest the codebase in a vector store.</a:t>
            </a:r>
          </a:p>
          <a:p>
            <a:pPr marL="742950" lvl="1" indent="-285750">
              <a:buFont typeface="Arial" panose="020B0604020202020204" pitchFamily="34" charset="0"/>
              <a:buChar char="•"/>
            </a:pPr>
            <a:r>
              <a:rPr lang="en-US" sz="2400" dirty="0"/>
              <a:t>CF 2025 has the ability to ingest different documents.  However, it cannot ingest cfc or </a:t>
            </a:r>
            <a:r>
              <a:rPr lang="en-US" sz="2400" dirty="0" err="1"/>
              <a:t>cfml</a:t>
            </a:r>
            <a:r>
              <a:rPr lang="en-US" sz="2400" dirty="0"/>
              <a:t> files yet.</a:t>
            </a:r>
          </a:p>
          <a:p>
            <a:pPr marL="742950" lvl="1" indent="-285750">
              <a:buFont typeface="Arial" panose="020B0604020202020204" pitchFamily="34" charset="0"/>
              <a:buChar char="•"/>
            </a:pPr>
            <a:r>
              <a:rPr lang="en-US" sz="2400" dirty="0"/>
              <a:t>Instead of ingesting the codes, you can insert the data into a vector store.</a:t>
            </a:r>
          </a:p>
          <a:p>
            <a:pPr marL="285750" indent="-285750">
              <a:buFont typeface="Arial" panose="020B0604020202020204" pitchFamily="34" charset="0"/>
              <a:buChar char="•"/>
            </a:pPr>
            <a:r>
              <a:rPr lang="en-US" sz="2400" dirty="0"/>
              <a:t>MCP (optional)</a:t>
            </a:r>
          </a:p>
          <a:p>
            <a:pPr marL="742950" lvl="1" indent="-285750">
              <a:buFont typeface="Arial" panose="020B0604020202020204" pitchFamily="34" charset="0"/>
              <a:buChar char="•"/>
            </a:pPr>
            <a:r>
              <a:rPr lang="en-US" sz="2400" dirty="0"/>
              <a:t>Depending on the kind of information you may want to know, if you want to know information on the file level, you may need a MCP with access to the file information and return them to you.</a:t>
            </a:r>
          </a:p>
          <a:p>
            <a:endParaRPr lang="en-US" sz="2400" dirty="0"/>
          </a:p>
          <a:p>
            <a:pPr lvl="1"/>
            <a:endParaRPr lang="en-US" sz="2400" dirty="0"/>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42656564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BACDD77-074D-B497-3DCC-1F970C3EC634}"/>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DB6BCF8E-2D86-A22F-3A5D-3032FBD0E478}"/>
              </a:ext>
            </a:extLst>
          </p:cNvPr>
          <p:cNvPicPr>
            <a:picLocks noChangeAspect="1"/>
          </p:cNvPicPr>
          <p:nvPr/>
        </p:nvPicPr>
        <p:blipFill>
          <a:blip r:embed="rId2"/>
          <a:stretch>
            <a:fillRect/>
          </a:stretch>
        </p:blipFill>
        <p:spPr>
          <a:xfrm>
            <a:off x="-11151" y="-6271"/>
            <a:ext cx="12188952" cy="6864271"/>
          </a:xfrm>
          <a:prstGeom prst="rect">
            <a:avLst/>
          </a:prstGeom>
        </p:spPr>
      </p:pic>
      <p:sp>
        <p:nvSpPr>
          <p:cNvPr id="10" name="Rectangle 9">
            <a:extLst>
              <a:ext uri="{FF2B5EF4-FFF2-40B4-BE49-F238E27FC236}">
                <a16:creationId xmlns:a16="http://schemas.microsoft.com/office/drawing/2014/main" id="{0DA2AD64-C519-4512-C5E6-8829BE962D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Footer Placeholder 10">
            <a:extLst>
              <a:ext uri="{FF2B5EF4-FFF2-40B4-BE49-F238E27FC236}">
                <a16:creationId xmlns:a16="http://schemas.microsoft.com/office/drawing/2014/main" id="{0EBE153E-E3B0-59CC-C25A-5605B1080D4F}"/>
              </a:ext>
            </a:extLst>
          </p:cNvPr>
          <p:cNvSpPr>
            <a:spLocks noGrp="1"/>
          </p:cNvSpPr>
          <p:nvPr>
            <p:ph type="ftr" sz="quarter" idx="11"/>
          </p:nvPr>
        </p:nvSpPr>
        <p:spPr>
          <a:xfrm>
            <a:off x="8696325" y="6462298"/>
            <a:ext cx="4114800" cy="365125"/>
          </a:xfrm>
        </p:spPr>
        <p:txBody>
          <a:bodyPr/>
          <a:lstStyle/>
          <a:p>
            <a:r>
              <a:rPr lang="en-US" sz="1400" dirty="0">
                <a:latin typeface="DunbarTall" panose="00000000000000020000" pitchFamily="50" charset="0"/>
              </a:rPr>
              <a:t>	 </a:t>
            </a:r>
          </a:p>
        </p:txBody>
      </p:sp>
      <p:sp>
        <p:nvSpPr>
          <p:cNvPr id="2" name="Freeform: Shape 1">
            <a:extLst>
              <a:ext uri="{FF2B5EF4-FFF2-40B4-BE49-F238E27FC236}">
                <a16:creationId xmlns:a16="http://schemas.microsoft.com/office/drawing/2014/main" id="{DD656C1C-7E04-1309-ACC8-735E1BDC6A54}"/>
              </a:ext>
            </a:extLst>
          </p:cNvPr>
          <p:cNvSpPr/>
          <p:nvPr/>
        </p:nvSpPr>
        <p:spPr>
          <a:xfrm>
            <a:off x="-11151" y="5700713"/>
            <a:ext cx="12243125" cy="585067"/>
          </a:xfrm>
          <a:custGeom>
            <a:avLst/>
            <a:gdLst>
              <a:gd name="connsiteX0" fmla="*/ 0 w 12243125"/>
              <a:gd name="connsiteY0" fmla="*/ 186706 h 2145814"/>
              <a:gd name="connsiteX1" fmla="*/ 3880624 w 12243125"/>
              <a:gd name="connsiteY1" fmla="*/ 186706 h 2145814"/>
              <a:gd name="connsiteX2" fmla="*/ 9088244 w 12243125"/>
              <a:gd name="connsiteY2" fmla="*/ 2127018 h 2145814"/>
              <a:gd name="connsiteX3" fmla="*/ 11976410 w 12243125"/>
              <a:gd name="connsiteY3" fmla="*/ 1223770 h 2145814"/>
              <a:gd name="connsiteX4" fmla="*/ 12132527 w 12243125"/>
              <a:gd name="connsiteY4" fmla="*/ 1179165 h 2145814"/>
              <a:gd name="connsiteX5" fmla="*/ 12132527 w 12243125"/>
              <a:gd name="connsiteY5" fmla="*/ 1190316 h 2145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243125" h="2145814">
                <a:moveTo>
                  <a:pt x="0" y="186706"/>
                </a:moveTo>
                <a:cubicBezTo>
                  <a:pt x="1182958" y="25013"/>
                  <a:pt x="2365917" y="-136679"/>
                  <a:pt x="3880624" y="186706"/>
                </a:cubicBezTo>
                <a:cubicBezTo>
                  <a:pt x="5395331" y="510091"/>
                  <a:pt x="7738946" y="1954174"/>
                  <a:pt x="9088244" y="2127018"/>
                </a:cubicBezTo>
                <a:cubicBezTo>
                  <a:pt x="10437542" y="2299862"/>
                  <a:pt x="11976410" y="1223770"/>
                  <a:pt x="11976410" y="1223770"/>
                </a:cubicBezTo>
                <a:cubicBezTo>
                  <a:pt x="12483791" y="1065795"/>
                  <a:pt x="12106508" y="1184741"/>
                  <a:pt x="12132527" y="1179165"/>
                </a:cubicBezTo>
                <a:cubicBezTo>
                  <a:pt x="12158547" y="1173589"/>
                  <a:pt x="12145537" y="1181952"/>
                  <a:pt x="12132527" y="1190316"/>
                </a:cubicBezTo>
              </a:path>
            </a:pathLst>
          </a:custGeom>
          <a:noFill/>
          <a:effectLst>
            <a:reflection blurRad="6350" stA="53000" endPos="35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A7DDAF17-4F15-D220-62B5-7D8BE8435D46}"/>
              </a:ext>
            </a:extLst>
          </p:cNvPr>
          <p:cNvSpPr txBox="1"/>
          <p:nvPr/>
        </p:nvSpPr>
        <p:spPr>
          <a:xfrm>
            <a:off x="462987" y="572220"/>
            <a:ext cx="11100122" cy="3693319"/>
          </a:xfrm>
          <a:prstGeom prst="rect">
            <a:avLst/>
          </a:prstGeom>
          <a:noFill/>
        </p:spPr>
        <p:txBody>
          <a:bodyPr wrap="square" rtlCol="0">
            <a:spAutoFit/>
          </a:bodyPr>
          <a:lstStyle/>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MCP (continued)</a:t>
            </a:r>
          </a:p>
          <a:p>
            <a:pPr marL="742950" lvl="1" indent="-285750">
              <a:buFont typeface="Arial" panose="020B0604020202020204" pitchFamily="34" charset="0"/>
              <a:buChar char="•"/>
            </a:pPr>
            <a:r>
              <a:rPr lang="en-US" sz="2400" dirty="0"/>
              <a:t>MCP server list </a:t>
            </a:r>
            <a:r>
              <a:rPr lang="en-US" sz="2400" dirty="0">
                <a:hlinkClick r:id="rId3"/>
              </a:rPr>
              <a:t>https://mcpservers.org/</a:t>
            </a:r>
            <a:endParaRPr lang="en-US" sz="2400" dirty="0"/>
          </a:p>
          <a:p>
            <a:pPr marL="742950" lvl="1" indent="-285750">
              <a:buFont typeface="Arial" panose="020B0604020202020204" pitchFamily="34" charset="0"/>
              <a:buChar char="•"/>
            </a:pPr>
            <a:r>
              <a:rPr lang="en-US" sz="2400" dirty="0"/>
              <a:t>For example, </a:t>
            </a:r>
            <a:r>
              <a:rPr lang="en-US" sz="2400" dirty="0">
                <a:hlinkClick r:id="rId4"/>
              </a:rPr>
              <a:t>https://mcpservers.org/servers/mark3labs/mcp-filesystem-server</a:t>
            </a:r>
            <a:endParaRPr lang="en-US" sz="2400" dirty="0"/>
          </a:p>
          <a:p>
            <a:pPr marL="742950" lvl="1" indent="-285750">
              <a:buFont typeface="Arial" panose="020B0604020202020204" pitchFamily="34" charset="0"/>
              <a:buChar char="•"/>
            </a:pPr>
            <a:endParaRPr lang="en-US" sz="2400" dirty="0"/>
          </a:p>
          <a:p>
            <a:pPr marL="742950" lvl="1" indent="-285750">
              <a:buFont typeface="Arial" panose="020B0604020202020204" pitchFamily="34" charset="0"/>
              <a:buChar char="•"/>
            </a:pPr>
            <a:endParaRPr lang="en-US" sz="2400" dirty="0"/>
          </a:p>
          <a:p>
            <a:endParaRPr lang="en-US" sz="2400" dirty="0"/>
          </a:p>
          <a:p>
            <a:pPr lvl="1"/>
            <a:endParaRPr lang="en-US" sz="2400" dirty="0"/>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28366840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6C8F673-4CCB-2A3F-6B76-9D43763DBBC1}"/>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55678A6E-C105-66F0-EAFE-D4338F2DC027}"/>
              </a:ext>
            </a:extLst>
          </p:cNvPr>
          <p:cNvPicPr>
            <a:picLocks noChangeAspect="1"/>
          </p:cNvPicPr>
          <p:nvPr/>
        </p:nvPicPr>
        <p:blipFill>
          <a:blip r:embed="rId2"/>
          <a:stretch>
            <a:fillRect/>
          </a:stretch>
        </p:blipFill>
        <p:spPr>
          <a:xfrm>
            <a:off x="-11151" y="-6271"/>
            <a:ext cx="12188952" cy="6864271"/>
          </a:xfrm>
          <a:prstGeom prst="rect">
            <a:avLst/>
          </a:prstGeom>
        </p:spPr>
      </p:pic>
      <p:sp>
        <p:nvSpPr>
          <p:cNvPr id="10" name="Rectangle 9">
            <a:extLst>
              <a:ext uri="{FF2B5EF4-FFF2-40B4-BE49-F238E27FC236}">
                <a16:creationId xmlns:a16="http://schemas.microsoft.com/office/drawing/2014/main" id="{2FB3C455-F41F-5B4D-C779-E672F512D8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Footer Placeholder 10">
            <a:extLst>
              <a:ext uri="{FF2B5EF4-FFF2-40B4-BE49-F238E27FC236}">
                <a16:creationId xmlns:a16="http://schemas.microsoft.com/office/drawing/2014/main" id="{8C615996-C118-1838-FCB1-0D027E0D5B41}"/>
              </a:ext>
            </a:extLst>
          </p:cNvPr>
          <p:cNvSpPr>
            <a:spLocks noGrp="1"/>
          </p:cNvSpPr>
          <p:nvPr>
            <p:ph type="ftr" sz="quarter" idx="11"/>
          </p:nvPr>
        </p:nvSpPr>
        <p:spPr>
          <a:xfrm>
            <a:off x="8696325" y="6462298"/>
            <a:ext cx="4114800" cy="365125"/>
          </a:xfrm>
        </p:spPr>
        <p:txBody>
          <a:bodyPr/>
          <a:lstStyle/>
          <a:p>
            <a:r>
              <a:rPr lang="en-US" sz="1400" dirty="0">
                <a:latin typeface="DunbarTall" panose="00000000000000020000" pitchFamily="50" charset="0"/>
              </a:rPr>
              <a:t>	 </a:t>
            </a:r>
          </a:p>
        </p:txBody>
      </p:sp>
      <p:sp>
        <p:nvSpPr>
          <p:cNvPr id="2" name="Freeform: Shape 1">
            <a:extLst>
              <a:ext uri="{FF2B5EF4-FFF2-40B4-BE49-F238E27FC236}">
                <a16:creationId xmlns:a16="http://schemas.microsoft.com/office/drawing/2014/main" id="{411D29B7-B379-F6C8-D4C2-90412C89DC0D}"/>
              </a:ext>
            </a:extLst>
          </p:cNvPr>
          <p:cNvSpPr/>
          <p:nvPr/>
        </p:nvSpPr>
        <p:spPr>
          <a:xfrm>
            <a:off x="-11151" y="5700713"/>
            <a:ext cx="12243125" cy="585067"/>
          </a:xfrm>
          <a:custGeom>
            <a:avLst/>
            <a:gdLst>
              <a:gd name="connsiteX0" fmla="*/ 0 w 12243125"/>
              <a:gd name="connsiteY0" fmla="*/ 186706 h 2145814"/>
              <a:gd name="connsiteX1" fmla="*/ 3880624 w 12243125"/>
              <a:gd name="connsiteY1" fmla="*/ 186706 h 2145814"/>
              <a:gd name="connsiteX2" fmla="*/ 9088244 w 12243125"/>
              <a:gd name="connsiteY2" fmla="*/ 2127018 h 2145814"/>
              <a:gd name="connsiteX3" fmla="*/ 11976410 w 12243125"/>
              <a:gd name="connsiteY3" fmla="*/ 1223770 h 2145814"/>
              <a:gd name="connsiteX4" fmla="*/ 12132527 w 12243125"/>
              <a:gd name="connsiteY4" fmla="*/ 1179165 h 2145814"/>
              <a:gd name="connsiteX5" fmla="*/ 12132527 w 12243125"/>
              <a:gd name="connsiteY5" fmla="*/ 1190316 h 2145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243125" h="2145814">
                <a:moveTo>
                  <a:pt x="0" y="186706"/>
                </a:moveTo>
                <a:cubicBezTo>
                  <a:pt x="1182958" y="25013"/>
                  <a:pt x="2365917" y="-136679"/>
                  <a:pt x="3880624" y="186706"/>
                </a:cubicBezTo>
                <a:cubicBezTo>
                  <a:pt x="5395331" y="510091"/>
                  <a:pt x="7738946" y="1954174"/>
                  <a:pt x="9088244" y="2127018"/>
                </a:cubicBezTo>
                <a:cubicBezTo>
                  <a:pt x="10437542" y="2299862"/>
                  <a:pt x="11976410" y="1223770"/>
                  <a:pt x="11976410" y="1223770"/>
                </a:cubicBezTo>
                <a:cubicBezTo>
                  <a:pt x="12483791" y="1065795"/>
                  <a:pt x="12106508" y="1184741"/>
                  <a:pt x="12132527" y="1179165"/>
                </a:cubicBezTo>
                <a:cubicBezTo>
                  <a:pt x="12158547" y="1173589"/>
                  <a:pt x="12145537" y="1181952"/>
                  <a:pt x="12132527" y="1190316"/>
                </a:cubicBezTo>
              </a:path>
            </a:pathLst>
          </a:custGeom>
          <a:noFill/>
          <a:effectLst>
            <a:reflection blurRad="6350" stA="53000" endPos="35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CCC1E398-E049-CD9D-0784-E168464E0A39}"/>
              </a:ext>
            </a:extLst>
          </p:cNvPr>
          <p:cNvSpPr txBox="1"/>
          <p:nvPr/>
        </p:nvSpPr>
        <p:spPr>
          <a:xfrm>
            <a:off x="462987" y="572220"/>
            <a:ext cx="11100122" cy="6647974"/>
          </a:xfrm>
          <a:prstGeom prst="rect">
            <a:avLst/>
          </a:prstGeom>
          <a:noFill/>
        </p:spPr>
        <p:txBody>
          <a:bodyPr wrap="square" rtlCol="0">
            <a:spAutoFit/>
          </a:bodyPr>
          <a:lstStyle/>
          <a:p>
            <a:pPr marL="285750" indent="-285750">
              <a:buFont typeface="Arial" panose="020B0604020202020204" pitchFamily="34" charset="0"/>
              <a:buChar char="•"/>
            </a:pPr>
            <a:endParaRPr lang="en-US" sz="2400" dirty="0"/>
          </a:p>
          <a:p>
            <a:r>
              <a:rPr lang="en-US" sz="2400" dirty="0"/>
              <a:t>Vector Store</a:t>
            </a:r>
          </a:p>
          <a:p>
            <a:pPr marL="742950" lvl="1" indent="-285750">
              <a:buFont typeface="Arial" panose="020B0604020202020204" pitchFamily="34" charset="0"/>
              <a:buChar char="•"/>
            </a:pPr>
            <a:r>
              <a:rPr lang="en-US" sz="2400" dirty="0"/>
              <a:t>Chunking</a:t>
            </a:r>
          </a:p>
          <a:p>
            <a:pPr marL="1200150" lvl="2" indent="-285750">
              <a:buFont typeface="Arial" panose="020B0604020202020204" pitchFamily="34" charset="0"/>
              <a:buChar char="•"/>
            </a:pPr>
            <a:r>
              <a:rPr lang="en-US" sz="2400" dirty="0"/>
              <a:t>Chunk size depends on the logical entity (i.e. chunking a whole function) instead of some random number of lines</a:t>
            </a:r>
          </a:p>
          <a:p>
            <a:pPr marL="1200150" lvl="2" indent="-285750">
              <a:buFont typeface="Arial" panose="020B0604020202020204" pitchFamily="34" charset="0"/>
              <a:buChar char="•"/>
            </a:pPr>
            <a:r>
              <a:rPr lang="en-US" sz="2400" dirty="0"/>
              <a:t>Different types of files (cfm, cfc, html, </a:t>
            </a:r>
            <a:r>
              <a:rPr lang="en-US" sz="2400" dirty="0" err="1"/>
              <a:t>js</a:t>
            </a:r>
            <a:r>
              <a:rPr lang="en-US" sz="2400" dirty="0"/>
              <a:t>, </a:t>
            </a:r>
            <a:r>
              <a:rPr lang="en-US" sz="2400" dirty="0" err="1"/>
              <a:t>sql</a:t>
            </a:r>
            <a:r>
              <a:rPr lang="en-US" sz="2400" dirty="0"/>
              <a:t>, …etc.)</a:t>
            </a:r>
          </a:p>
          <a:p>
            <a:pPr marL="742950" lvl="1" indent="-285750">
              <a:buFont typeface="Arial" panose="020B0604020202020204" pitchFamily="34" charset="0"/>
              <a:buChar char="•"/>
            </a:pPr>
            <a:r>
              <a:rPr lang="en-US" sz="2400" dirty="0"/>
              <a:t>Store a summary of the chunked codes and create embeddings based on the summary.  The summary should contain information that you want to know about the chunked codes (ex. The general purpose of the codes, file name, path to the file, functions/pages that use the function being chunked, functions/pages that the function being chunked use, …etc.)</a:t>
            </a:r>
          </a:p>
          <a:p>
            <a:pPr marL="742950" lvl="1" indent="-285750">
              <a:buFont typeface="Arial" panose="020B0604020202020204" pitchFamily="34" charset="0"/>
              <a:buChar char="•"/>
            </a:pPr>
            <a:r>
              <a:rPr lang="en-US" sz="2400" dirty="0"/>
              <a:t>The detail information is stored as the meta data.</a:t>
            </a:r>
          </a:p>
          <a:p>
            <a:pPr marL="742950" lvl="1" indent="-285750">
              <a:buFont typeface="Arial" panose="020B0604020202020204" pitchFamily="34" charset="0"/>
              <a:buChar char="•"/>
            </a:pPr>
            <a:r>
              <a:rPr lang="en-US" sz="2400" dirty="0"/>
              <a:t>Be sure to index the data.  Without the indexes, it would search the whole database for the information that you are looking for. </a:t>
            </a:r>
          </a:p>
          <a:p>
            <a:endParaRPr lang="en-US" sz="2400" dirty="0"/>
          </a:p>
          <a:p>
            <a:pPr lvl="1"/>
            <a:endParaRPr lang="en-US" sz="2400" dirty="0"/>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33462472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0A97C3-4100-E0CE-550B-263723BA9FB8}"/>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C8711653-A2A5-AD1C-879E-3908F8B90158}"/>
              </a:ext>
            </a:extLst>
          </p:cNvPr>
          <p:cNvPicPr>
            <a:picLocks noChangeAspect="1"/>
          </p:cNvPicPr>
          <p:nvPr/>
        </p:nvPicPr>
        <p:blipFill>
          <a:blip r:embed="rId2"/>
          <a:stretch>
            <a:fillRect/>
          </a:stretch>
        </p:blipFill>
        <p:spPr>
          <a:xfrm>
            <a:off x="-11151" y="-6271"/>
            <a:ext cx="12188952" cy="6864271"/>
          </a:xfrm>
          <a:prstGeom prst="rect">
            <a:avLst/>
          </a:prstGeom>
        </p:spPr>
      </p:pic>
      <p:sp>
        <p:nvSpPr>
          <p:cNvPr id="10" name="Rectangle 9">
            <a:extLst>
              <a:ext uri="{FF2B5EF4-FFF2-40B4-BE49-F238E27FC236}">
                <a16:creationId xmlns:a16="http://schemas.microsoft.com/office/drawing/2014/main" id="{2C693DEF-7502-2804-B9F4-E6CE98B329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1" name="Footer Placeholder 10">
            <a:extLst>
              <a:ext uri="{FF2B5EF4-FFF2-40B4-BE49-F238E27FC236}">
                <a16:creationId xmlns:a16="http://schemas.microsoft.com/office/drawing/2014/main" id="{815EEBB1-7F66-17CC-C210-E11838628E99}"/>
              </a:ext>
            </a:extLst>
          </p:cNvPr>
          <p:cNvSpPr>
            <a:spLocks noGrp="1"/>
          </p:cNvSpPr>
          <p:nvPr>
            <p:ph type="ftr" sz="quarter" idx="11"/>
          </p:nvPr>
        </p:nvSpPr>
        <p:spPr>
          <a:xfrm>
            <a:off x="8696325" y="6462298"/>
            <a:ext cx="4114800" cy="365125"/>
          </a:xfrm>
        </p:spPr>
        <p:txBody>
          <a:bodyPr/>
          <a:lstStyle/>
          <a:p>
            <a:r>
              <a:rPr lang="en-US" sz="1400" dirty="0">
                <a:latin typeface="DunbarTall" panose="00000000000000020000" pitchFamily="50" charset="0"/>
              </a:rPr>
              <a:t>	 </a:t>
            </a:r>
          </a:p>
        </p:txBody>
      </p:sp>
      <p:sp>
        <p:nvSpPr>
          <p:cNvPr id="2" name="Freeform: Shape 1">
            <a:extLst>
              <a:ext uri="{FF2B5EF4-FFF2-40B4-BE49-F238E27FC236}">
                <a16:creationId xmlns:a16="http://schemas.microsoft.com/office/drawing/2014/main" id="{3EFBC302-63EF-9F20-0245-024F97CF7750}"/>
              </a:ext>
            </a:extLst>
          </p:cNvPr>
          <p:cNvSpPr/>
          <p:nvPr/>
        </p:nvSpPr>
        <p:spPr>
          <a:xfrm>
            <a:off x="-11151" y="5700713"/>
            <a:ext cx="12243125" cy="585067"/>
          </a:xfrm>
          <a:custGeom>
            <a:avLst/>
            <a:gdLst>
              <a:gd name="connsiteX0" fmla="*/ 0 w 12243125"/>
              <a:gd name="connsiteY0" fmla="*/ 186706 h 2145814"/>
              <a:gd name="connsiteX1" fmla="*/ 3880624 w 12243125"/>
              <a:gd name="connsiteY1" fmla="*/ 186706 h 2145814"/>
              <a:gd name="connsiteX2" fmla="*/ 9088244 w 12243125"/>
              <a:gd name="connsiteY2" fmla="*/ 2127018 h 2145814"/>
              <a:gd name="connsiteX3" fmla="*/ 11976410 w 12243125"/>
              <a:gd name="connsiteY3" fmla="*/ 1223770 h 2145814"/>
              <a:gd name="connsiteX4" fmla="*/ 12132527 w 12243125"/>
              <a:gd name="connsiteY4" fmla="*/ 1179165 h 2145814"/>
              <a:gd name="connsiteX5" fmla="*/ 12132527 w 12243125"/>
              <a:gd name="connsiteY5" fmla="*/ 1190316 h 2145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243125" h="2145814">
                <a:moveTo>
                  <a:pt x="0" y="186706"/>
                </a:moveTo>
                <a:cubicBezTo>
                  <a:pt x="1182958" y="25013"/>
                  <a:pt x="2365917" y="-136679"/>
                  <a:pt x="3880624" y="186706"/>
                </a:cubicBezTo>
                <a:cubicBezTo>
                  <a:pt x="5395331" y="510091"/>
                  <a:pt x="7738946" y="1954174"/>
                  <a:pt x="9088244" y="2127018"/>
                </a:cubicBezTo>
                <a:cubicBezTo>
                  <a:pt x="10437542" y="2299862"/>
                  <a:pt x="11976410" y="1223770"/>
                  <a:pt x="11976410" y="1223770"/>
                </a:cubicBezTo>
                <a:cubicBezTo>
                  <a:pt x="12483791" y="1065795"/>
                  <a:pt x="12106508" y="1184741"/>
                  <a:pt x="12132527" y="1179165"/>
                </a:cubicBezTo>
                <a:cubicBezTo>
                  <a:pt x="12158547" y="1173589"/>
                  <a:pt x="12145537" y="1181952"/>
                  <a:pt x="12132527" y="1190316"/>
                </a:cubicBezTo>
              </a:path>
            </a:pathLst>
          </a:custGeom>
          <a:noFill/>
          <a:effectLst>
            <a:reflection blurRad="6350" stA="53000" endPos="35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AD0FA3F5-1DF2-462E-DC85-155AF16A8494}"/>
              </a:ext>
            </a:extLst>
          </p:cNvPr>
          <p:cNvSpPr txBox="1"/>
          <p:nvPr/>
        </p:nvSpPr>
        <p:spPr>
          <a:xfrm>
            <a:off x="462987" y="572220"/>
            <a:ext cx="11100122" cy="3693319"/>
          </a:xfrm>
          <a:prstGeom prst="rect">
            <a:avLst/>
          </a:prstGeom>
          <a:noFill/>
        </p:spPr>
        <p:txBody>
          <a:bodyPr wrap="square" rtlCol="0">
            <a:spAutoFit/>
          </a:bodyPr>
          <a:lstStyle/>
          <a:p>
            <a:pPr marL="285750" indent="-285750">
              <a:buFont typeface="Arial" panose="020B0604020202020204" pitchFamily="34" charset="0"/>
              <a:buChar char="•"/>
            </a:pPr>
            <a:endParaRPr lang="en-US" sz="2400" dirty="0"/>
          </a:p>
          <a:p>
            <a:pPr marL="742950" lvl="1" indent="-285750">
              <a:buFont typeface="Arial" panose="020B0604020202020204" pitchFamily="34" charset="0"/>
              <a:buChar char="•"/>
            </a:pPr>
            <a:r>
              <a:rPr lang="en-US" sz="2400" dirty="0"/>
              <a:t>Ongoing ingestion</a:t>
            </a:r>
          </a:p>
          <a:p>
            <a:pPr marL="1200150" lvl="2" indent="-285750">
              <a:buFont typeface="Arial" panose="020B0604020202020204" pitchFamily="34" charset="0"/>
              <a:buChar char="•"/>
            </a:pPr>
            <a:r>
              <a:rPr lang="en-US" sz="2400" dirty="0"/>
              <a:t>File changes</a:t>
            </a:r>
          </a:p>
          <a:p>
            <a:pPr marL="1657350" lvl="3" indent="-285750">
              <a:buFont typeface="Arial" panose="020B0604020202020204" pitchFamily="34" charset="0"/>
              <a:buChar char="•"/>
            </a:pPr>
            <a:r>
              <a:rPr lang="en-US" sz="2400" dirty="0"/>
              <a:t>Ingest all the files</a:t>
            </a:r>
          </a:p>
          <a:p>
            <a:pPr marL="1657350" lvl="3" indent="-285750">
              <a:buFont typeface="Arial" panose="020B0604020202020204" pitchFamily="34" charset="0"/>
              <a:buChar char="•"/>
            </a:pPr>
            <a:r>
              <a:rPr lang="en-US" sz="2400" dirty="0"/>
              <a:t>Ingest only the changed files (ex. Using git to find the changed files or build it into the pipeline to ingest after a successful merge)</a:t>
            </a:r>
          </a:p>
          <a:p>
            <a:pPr marL="742950" lvl="1" indent="-285750">
              <a:buFont typeface="Arial" panose="020B0604020202020204" pitchFamily="34" charset="0"/>
              <a:buChar char="•"/>
            </a:pPr>
            <a:endParaRPr lang="en-US" sz="2400" dirty="0"/>
          </a:p>
          <a:p>
            <a:pPr lvl="1"/>
            <a:endParaRPr lang="en-US" sz="2400" dirty="0"/>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18019386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E5715E08-146D-0759-2720-E84D70786BC1}"/>
              </a:ext>
            </a:extLst>
          </p:cNvPr>
          <p:cNvPicPr>
            <a:picLocks noChangeAspect="1"/>
          </p:cNvPicPr>
          <p:nvPr/>
        </p:nvPicPr>
        <p:blipFill>
          <a:blip r:embed="rId2"/>
          <a:stretch>
            <a:fillRect/>
          </a:stretch>
        </p:blipFill>
        <p:spPr>
          <a:xfrm>
            <a:off x="1" y="612"/>
            <a:ext cx="12188952" cy="6864271"/>
          </a:xfrm>
          <a:prstGeom prst="rect">
            <a:avLst/>
          </a:prstGeom>
        </p:spPr>
      </p:pic>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Freeform: Shape 1">
            <a:extLst>
              <a:ext uri="{FF2B5EF4-FFF2-40B4-BE49-F238E27FC236}">
                <a16:creationId xmlns:a16="http://schemas.microsoft.com/office/drawing/2014/main" id="{6DAD8027-1835-30F1-2138-FEEFB4294F47}"/>
              </a:ext>
            </a:extLst>
          </p:cNvPr>
          <p:cNvSpPr/>
          <p:nvPr/>
        </p:nvSpPr>
        <p:spPr>
          <a:xfrm>
            <a:off x="-11151" y="5700713"/>
            <a:ext cx="12243125" cy="585067"/>
          </a:xfrm>
          <a:custGeom>
            <a:avLst/>
            <a:gdLst>
              <a:gd name="connsiteX0" fmla="*/ 0 w 12243125"/>
              <a:gd name="connsiteY0" fmla="*/ 186706 h 2145814"/>
              <a:gd name="connsiteX1" fmla="*/ 3880624 w 12243125"/>
              <a:gd name="connsiteY1" fmla="*/ 186706 h 2145814"/>
              <a:gd name="connsiteX2" fmla="*/ 9088244 w 12243125"/>
              <a:gd name="connsiteY2" fmla="*/ 2127018 h 2145814"/>
              <a:gd name="connsiteX3" fmla="*/ 11976410 w 12243125"/>
              <a:gd name="connsiteY3" fmla="*/ 1223770 h 2145814"/>
              <a:gd name="connsiteX4" fmla="*/ 12132527 w 12243125"/>
              <a:gd name="connsiteY4" fmla="*/ 1179165 h 2145814"/>
              <a:gd name="connsiteX5" fmla="*/ 12132527 w 12243125"/>
              <a:gd name="connsiteY5" fmla="*/ 1190316 h 2145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243125" h="2145814">
                <a:moveTo>
                  <a:pt x="0" y="186706"/>
                </a:moveTo>
                <a:cubicBezTo>
                  <a:pt x="1182958" y="25013"/>
                  <a:pt x="2365917" y="-136679"/>
                  <a:pt x="3880624" y="186706"/>
                </a:cubicBezTo>
                <a:cubicBezTo>
                  <a:pt x="5395331" y="510091"/>
                  <a:pt x="7738946" y="1954174"/>
                  <a:pt x="9088244" y="2127018"/>
                </a:cubicBezTo>
                <a:cubicBezTo>
                  <a:pt x="10437542" y="2299862"/>
                  <a:pt x="11976410" y="1223770"/>
                  <a:pt x="11976410" y="1223770"/>
                </a:cubicBezTo>
                <a:cubicBezTo>
                  <a:pt x="12483791" y="1065795"/>
                  <a:pt x="12106508" y="1184741"/>
                  <a:pt x="12132527" y="1179165"/>
                </a:cubicBezTo>
                <a:cubicBezTo>
                  <a:pt x="12158547" y="1173589"/>
                  <a:pt x="12145537" y="1181952"/>
                  <a:pt x="12132527" y="1190316"/>
                </a:cubicBezTo>
              </a:path>
            </a:pathLst>
          </a:custGeom>
          <a:noFill/>
          <a:effectLst>
            <a:reflection blurRad="6350" stA="53000" endPos="35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0FD99C64-091D-FF72-D6E5-945F70A79AB0}"/>
              </a:ext>
            </a:extLst>
          </p:cNvPr>
          <p:cNvSpPr txBox="1"/>
          <p:nvPr/>
        </p:nvSpPr>
        <p:spPr>
          <a:xfrm>
            <a:off x="717630" y="572220"/>
            <a:ext cx="11100122" cy="2308324"/>
          </a:xfrm>
          <a:prstGeom prst="rect">
            <a:avLst/>
          </a:prstGeom>
          <a:noFill/>
        </p:spPr>
        <p:txBody>
          <a:bodyPr wrap="square" rtlCol="0">
            <a:spAutoFit/>
          </a:bodyPr>
          <a:lstStyle/>
          <a:p>
            <a:r>
              <a:rPr lang="en-US" sz="2400" dirty="0"/>
              <a:t>LLM</a:t>
            </a:r>
          </a:p>
          <a:p>
            <a:endParaRPr lang="en-US" sz="2400" dirty="0"/>
          </a:p>
          <a:p>
            <a:pPr marL="342900" indent="-342900">
              <a:buFont typeface="Arial" panose="020B0604020202020204" pitchFamily="34" charset="0"/>
              <a:buChar char="•"/>
            </a:pPr>
            <a:r>
              <a:rPr lang="en-US" sz="2400" dirty="0"/>
              <a:t>CF 2025 comes with support of a set of LLMs</a:t>
            </a:r>
          </a:p>
          <a:p>
            <a:pPr marL="342900" indent="-342900">
              <a:buFont typeface="Arial" panose="020B0604020202020204" pitchFamily="34" charset="0"/>
              <a:buChar char="•"/>
            </a:pPr>
            <a:r>
              <a:rPr lang="en-US" sz="2400" dirty="0"/>
              <a:t>Anthropic, OpenAI, </a:t>
            </a:r>
            <a:r>
              <a:rPr lang="en-US" sz="2400" dirty="0" err="1"/>
              <a:t>Ollama</a:t>
            </a:r>
            <a:r>
              <a:rPr lang="en-US" sz="2400" dirty="0"/>
              <a:t> (allows you to have the LLM on your local environment)</a:t>
            </a:r>
          </a:p>
          <a:p>
            <a:pPr marL="342900" indent="-342900">
              <a:buFont typeface="Arial" panose="020B0604020202020204" pitchFamily="34" charset="0"/>
              <a:buChar char="•"/>
            </a:pPr>
            <a:r>
              <a:rPr lang="en-US" sz="2400" dirty="0"/>
              <a:t>Works with natural languages (i.e. does not have to be English)</a:t>
            </a:r>
          </a:p>
          <a:p>
            <a:pPr marL="342900" indent="-342900">
              <a:buFont typeface="Arial" panose="020B0604020202020204" pitchFamily="34" charset="0"/>
              <a:buChar char="•"/>
            </a:pPr>
            <a:endParaRPr lang="en-US" sz="2400" dirty="0"/>
          </a:p>
        </p:txBody>
      </p:sp>
    </p:spTree>
    <p:extLst>
      <p:ext uri="{BB962C8B-B14F-4D97-AF65-F5344CB8AC3E}">
        <p14:creationId xmlns:p14="http://schemas.microsoft.com/office/powerpoint/2010/main" val="6170958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F145E27-5C60-58AF-CA55-21C895C1A5DE}"/>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1AA81AAC-F24F-2030-A2A3-6B4AFA3C816A}"/>
              </a:ext>
            </a:extLst>
          </p:cNvPr>
          <p:cNvPicPr>
            <a:picLocks noChangeAspect="1"/>
          </p:cNvPicPr>
          <p:nvPr/>
        </p:nvPicPr>
        <p:blipFill>
          <a:blip r:embed="rId2"/>
          <a:stretch>
            <a:fillRect/>
          </a:stretch>
        </p:blipFill>
        <p:spPr>
          <a:xfrm>
            <a:off x="1" y="612"/>
            <a:ext cx="12188952" cy="6864271"/>
          </a:xfrm>
          <a:prstGeom prst="rect">
            <a:avLst/>
          </a:prstGeom>
        </p:spPr>
      </p:pic>
      <p:sp>
        <p:nvSpPr>
          <p:cNvPr id="10" name="Rectangle 9">
            <a:extLst>
              <a:ext uri="{FF2B5EF4-FFF2-40B4-BE49-F238E27FC236}">
                <a16:creationId xmlns:a16="http://schemas.microsoft.com/office/drawing/2014/main" id="{BFE6CE08-4B75-1BF3-D2D9-BD720B2286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Freeform: Shape 1">
            <a:extLst>
              <a:ext uri="{FF2B5EF4-FFF2-40B4-BE49-F238E27FC236}">
                <a16:creationId xmlns:a16="http://schemas.microsoft.com/office/drawing/2014/main" id="{F54186D4-77C0-0FEB-6BBC-F8DF626D3181}"/>
              </a:ext>
            </a:extLst>
          </p:cNvPr>
          <p:cNvSpPr/>
          <p:nvPr/>
        </p:nvSpPr>
        <p:spPr>
          <a:xfrm>
            <a:off x="-11151" y="5700713"/>
            <a:ext cx="12243125" cy="585067"/>
          </a:xfrm>
          <a:custGeom>
            <a:avLst/>
            <a:gdLst>
              <a:gd name="connsiteX0" fmla="*/ 0 w 12243125"/>
              <a:gd name="connsiteY0" fmla="*/ 186706 h 2145814"/>
              <a:gd name="connsiteX1" fmla="*/ 3880624 w 12243125"/>
              <a:gd name="connsiteY1" fmla="*/ 186706 h 2145814"/>
              <a:gd name="connsiteX2" fmla="*/ 9088244 w 12243125"/>
              <a:gd name="connsiteY2" fmla="*/ 2127018 h 2145814"/>
              <a:gd name="connsiteX3" fmla="*/ 11976410 w 12243125"/>
              <a:gd name="connsiteY3" fmla="*/ 1223770 h 2145814"/>
              <a:gd name="connsiteX4" fmla="*/ 12132527 w 12243125"/>
              <a:gd name="connsiteY4" fmla="*/ 1179165 h 2145814"/>
              <a:gd name="connsiteX5" fmla="*/ 12132527 w 12243125"/>
              <a:gd name="connsiteY5" fmla="*/ 1190316 h 2145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243125" h="2145814">
                <a:moveTo>
                  <a:pt x="0" y="186706"/>
                </a:moveTo>
                <a:cubicBezTo>
                  <a:pt x="1182958" y="25013"/>
                  <a:pt x="2365917" y="-136679"/>
                  <a:pt x="3880624" y="186706"/>
                </a:cubicBezTo>
                <a:cubicBezTo>
                  <a:pt x="5395331" y="510091"/>
                  <a:pt x="7738946" y="1954174"/>
                  <a:pt x="9088244" y="2127018"/>
                </a:cubicBezTo>
                <a:cubicBezTo>
                  <a:pt x="10437542" y="2299862"/>
                  <a:pt x="11976410" y="1223770"/>
                  <a:pt x="11976410" y="1223770"/>
                </a:cubicBezTo>
                <a:cubicBezTo>
                  <a:pt x="12483791" y="1065795"/>
                  <a:pt x="12106508" y="1184741"/>
                  <a:pt x="12132527" y="1179165"/>
                </a:cubicBezTo>
                <a:cubicBezTo>
                  <a:pt x="12158547" y="1173589"/>
                  <a:pt x="12145537" y="1181952"/>
                  <a:pt x="12132527" y="1190316"/>
                </a:cubicBezTo>
              </a:path>
            </a:pathLst>
          </a:custGeom>
          <a:noFill/>
          <a:effectLst>
            <a:reflection blurRad="6350" stA="53000" endPos="35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F185F244-4489-5A79-6ABC-E9D996555BB0}"/>
              </a:ext>
            </a:extLst>
          </p:cNvPr>
          <p:cNvSpPr txBox="1"/>
          <p:nvPr/>
        </p:nvSpPr>
        <p:spPr>
          <a:xfrm>
            <a:off x="3854369" y="3060778"/>
            <a:ext cx="11100122" cy="1015663"/>
          </a:xfrm>
          <a:prstGeom prst="rect">
            <a:avLst/>
          </a:prstGeom>
          <a:noFill/>
        </p:spPr>
        <p:txBody>
          <a:bodyPr wrap="square" rtlCol="0">
            <a:spAutoFit/>
          </a:bodyPr>
          <a:lstStyle/>
          <a:p>
            <a:r>
              <a:rPr lang="en-US" sz="6000" dirty="0"/>
              <a:t>Voice Agent??  </a:t>
            </a:r>
          </a:p>
        </p:txBody>
      </p:sp>
    </p:spTree>
    <p:extLst>
      <p:ext uri="{BB962C8B-B14F-4D97-AF65-F5344CB8AC3E}">
        <p14:creationId xmlns:p14="http://schemas.microsoft.com/office/powerpoint/2010/main" val="3591372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EDB7EFC-D8C0-39B5-CAAB-94D085C5A8EB}"/>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2FF33F32-1764-0BC6-5467-6818A065C199}"/>
              </a:ext>
            </a:extLst>
          </p:cNvPr>
          <p:cNvPicPr>
            <a:picLocks noChangeAspect="1"/>
          </p:cNvPicPr>
          <p:nvPr/>
        </p:nvPicPr>
        <p:blipFill>
          <a:blip r:embed="rId2"/>
          <a:stretch>
            <a:fillRect/>
          </a:stretch>
        </p:blipFill>
        <p:spPr>
          <a:xfrm>
            <a:off x="1" y="612"/>
            <a:ext cx="12188952" cy="6864271"/>
          </a:xfrm>
          <a:prstGeom prst="rect">
            <a:avLst/>
          </a:prstGeom>
        </p:spPr>
      </p:pic>
      <p:sp>
        <p:nvSpPr>
          <p:cNvPr id="10" name="Rectangle 9">
            <a:extLst>
              <a:ext uri="{FF2B5EF4-FFF2-40B4-BE49-F238E27FC236}">
                <a16:creationId xmlns:a16="http://schemas.microsoft.com/office/drawing/2014/main" id="{7964CDEF-1306-B5AB-FDC2-AE485A74FA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Freeform: Shape 1">
            <a:extLst>
              <a:ext uri="{FF2B5EF4-FFF2-40B4-BE49-F238E27FC236}">
                <a16:creationId xmlns:a16="http://schemas.microsoft.com/office/drawing/2014/main" id="{E107C72B-661C-E66D-1494-4D367A0DD89C}"/>
              </a:ext>
            </a:extLst>
          </p:cNvPr>
          <p:cNvSpPr/>
          <p:nvPr/>
        </p:nvSpPr>
        <p:spPr>
          <a:xfrm>
            <a:off x="-11151" y="5700713"/>
            <a:ext cx="12243125" cy="585067"/>
          </a:xfrm>
          <a:custGeom>
            <a:avLst/>
            <a:gdLst>
              <a:gd name="connsiteX0" fmla="*/ 0 w 12243125"/>
              <a:gd name="connsiteY0" fmla="*/ 186706 h 2145814"/>
              <a:gd name="connsiteX1" fmla="*/ 3880624 w 12243125"/>
              <a:gd name="connsiteY1" fmla="*/ 186706 h 2145814"/>
              <a:gd name="connsiteX2" fmla="*/ 9088244 w 12243125"/>
              <a:gd name="connsiteY2" fmla="*/ 2127018 h 2145814"/>
              <a:gd name="connsiteX3" fmla="*/ 11976410 w 12243125"/>
              <a:gd name="connsiteY3" fmla="*/ 1223770 h 2145814"/>
              <a:gd name="connsiteX4" fmla="*/ 12132527 w 12243125"/>
              <a:gd name="connsiteY4" fmla="*/ 1179165 h 2145814"/>
              <a:gd name="connsiteX5" fmla="*/ 12132527 w 12243125"/>
              <a:gd name="connsiteY5" fmla="*/ 1190316 h 2145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243125" h="2145814">
                <a:moveTo>
                  <a:pt x="0" y="186706"/>
                </a:moveTo>
                <a:cubicBezTo>
                  <a:pt x="1182958" y="25013"/>
                  <a:pt x="2365917" y="-136679"/>
                  <a:pt x="3880624" y="186706"/>
                </a:cubicBezTo>
                <a:cubicBezTo>
                  <a:pt x="5395331" y="510091"/>
                  <a:pt x="7738946" y="1954174"/>
                  <a:pt x="9088244" y="2127018"/>
                </a:cubicBezTo>
                <a:cubicBezTo>
                  <a:pt x="10437542" y="2299862"/>
                  <a:pt x="11976410" y="1223770"/>
                  <a:pt x="11976410" y="1223770"/>
                </a:cubicBezTo>
                <a:cubicBezTo>
                  <a:pt x="12483791" y="1065795"/>
                  <a:pt x="12106508" y="1184741"/>
                  <a:pt x="12132527" y="1179165"/>
                </a:cubicBezTo>
                <a:cubicBezTo>
                  <a:pt x="12158547" y="1173589"/>
                  <a:pt x="12145537" y="1181952"/>
                  <a:pt x="12132527" y="1190316"/>
                </a:cubicBezTo>
              </a:path>
            </a:pathLst>
          </a:custGeom>
          <a:noFill/>
          <a:effectLst>
            <a:reflection blurRad="6350" stA="53000" endPos="35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74E3A58E-C6B5-7785-0860-D58C1ED742BF}"/>
              </a:ext>
            </a:extLst>
          </p:cNvPr>
          <p:cNvSpPr txBox="1"/>
          <p:nvPr/>
        </p:nvSpPr>
        <p:spPr>
          <a:xfrm>
            <a:off x="0" y="396607"/>
            <a:ext cx="14954491" cy="2677656"/>
          </a:xfrm>
          <a:prstGeom prst="rect">
            <a:avLst/>
          </a:prstGeom>
          <a:noFill/>
        </p:spPr>
        <p:txBody>
          <a:bodyPr wrap="square" rtlCol="0">
            <a:spAutoFit/>
          </a:bodyPr>
          <a:lstStyle/>
          <a:p>
            <a:pPr marL="514350" indent="-514350">
              <a:buFont typeface="Arial" panose="020B0604020202020204" pitchFamily="34" charset="0"/>
              <a:buChar char="•"/>
            </a:pPr>
            <a:r>
              <a:rPr lang="en-US" sz="2800" dirty="0"/>
              <a:t>JavaScript – simplest way</a:t>
            </a:r>
          </a:p>
          <a:p>
            <a:pPr marL="514350" indent="-514350">
              <a:buFont typeface="Arial" panose="020B0604020202020204" pitchFamily="34" charset="0"/>
              <a:buChar char="•"/>
            </a:pPr>
            <a:r>
              <a:rPr lang="en-US" sz="2800" dirty="0"/>
              <a:t>Web Speech API – No need to include external libraries</a:t>
            </a:r>
          </a:p>
          <a:p>
            <a:pPr marL="514350" indent="-514350">
              <a:buFont typeface="Arial" panose="020B0604020202020204" pitchFamily="34" charset="0"/>
              <a:buChar char="•"/>
            </a:pPr>
            <a:r>
              <a:rPr lang="en-US" sz="2800" dirty="0">
                <a:hlinkClick r:id="rId3"/>
              </a:rPr>
              <a:t>https://developer.mozilla.org/en-US/docs/Web/API/Web_Speech_API</a:t>
            </a:r>
            <a:endParaRPr lang="en-US" sz="2800" dirty="0"/>
          </a:p>
          <a:p>
            <a:pPr marL="971550" lvl="1" indent="-514350">
              <a:buFont typeface="Arial" panose="020B0604020202020204" pitchFamily="34" charset="0"/>
              <a:buChar char="•"/>
            </a:pPr>
            <a:r>
              <a:rPr lang="en-US" sz="2800" dirty="0" err="1"/>
              <a:t>SpeechRecognition</a:t>
            </a:r>
            <a:r>
              <a:rPr lang="en-US" sz="2800" dirty="0"/>
              <a:t> – Speech to Text</a:t>
            </a:r>
          </a:p>
          <a:p>
            <a:pPr marL="971550" lvl="1" indent="-514350">
              <a:buFont typeface="Arial" panose="020B0604020202020204" pitchFamily="34" charset="0"/>
              <a:buChar char="•"/>
            </a:pPr>
            <a:r>
              <a:rPr lang="en-US" sz="2800" dirty="0" err="1"/>
              <a:t>SpeechSynthesisUtterance</a:t>
            </a:r>
            <a:r>
              <a:rPr lang="en-US" sz="2800" dirty="0"/>
              <a:t> – Text to Speech</a:t>
            </a:r>
          </a:p>
          <a:p>
            <a:pPr lvl="1"/>
            <a:endParaRPr lang="en-US" sz="2800" dirty="0"/>
          </a:p>
        </p:txBody>
      </p:sp>
    </p:spTree>
    <p:extLst>
      <p:ext uri="{BB962C8B-B14F-4D97-AF65-F5344CB8AC3E}">
        <p14:creationId xmlns:p14="http://schemas.microsoft.com/office/powerpoint/2010/main" val="4525385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white background with hexagons&#10;&#10;Description automatically generated">
            <a:extLst>
              <a:ext uri="{FF2B5EF4-FFF2-40B4-BE49-F238E27FC236}">
                <a16:creationId xmlns:a16="http://schemas.microsoft.com/office/drawing/2014/main" id="{57167341-08E4-3FAE-09CA-8A71930D4A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1" cy="6857612"/>
          </a:xfrm>
          <a:prstGeom prst="rect">
            <a:avLst/>
          </a:prstGeom>
        </p:spPr>
      </p:pic>
      <p:sp>
        <p:nvSpPr>
          <p:cNvPr id="2" name="TextBox 1">
            <a:extLst>
              <a:ext uri="{FF2B5EF4-FFF2-40B4-BE49-F238E27FC236}">
                <a16:creationId xmlns:a16="http://schemas.microsoft.com/office/drawing/2014/main" id="{AF1FBD9A-BC88-48B5-137F-AC54A2E234E0}"/>
              </a:ext>
            </a:extLst>
          </p:cNvPr>
          <p:cNvSpPr txBox="1"/>
          <p:nvPr/>
        </p:nvSpPr>
        <p:spPr>
          <a:xfrm>
            <a:off x="1542473" y="2844800"/>
            <a:ext cx="9596582" cy="769441"/>
          </a:xfrm>
          <a:prstGeom prst="rect">
            <a:avLst/>
          </a:prstGeom>
          <a:noFill/>
        </p:spPr>
        <p:txBody>
          <a:bodyPr wrap="square" rtlCol="0">
            <a:spAutoFit/>
          </a:bodyPr>
          <a:lstStyle/>
          <a:p>
            <a:pPr algn="ctr"/>
            <a:r>
              <a:rPr lang="en-US" sz="4400" dirty="0">
                <a:solidFill>
                  <a:srgbClr val="002060"/>
                </a:solidFill>
                <a:latin typeface="Roboto Light" panose="02000000000000000000" pitchFamily="2" charset="0"/>
                <a:ea typeface="Roboto Light" panose="02000000000000000000" pitchFamily="2" charset="0"/>
              </a:rPr>
              <a:t>Questions?</a:t>
            </a:r>
          </a:p>
        </p:txBody>
      </p:sp>
    </p:spTree>
    <p:extLst>
      <p:ext uri="{BB962C8B-B14F-4D97-AF65-F5344CB8AC3E}">
        <p14:creationId xmlns:p14="http://schemas.microsoft.com/office/powerpoint/2010/main" val="5893059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213921</TotalTime>
  <Words>695</Words>
  <Application>Microsoft Macintosh PowerPoint</Application>
  <PresentationFormat>Widescreen</PresentationFormat>
  <Paragraphs>70</Paragraphs>
  <Slides>11</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vt:i4>
      </vt:variant>
    </vt:vector>
  </HeadingPairs>
  <TitlesOfParts>
    <vt:vector size="19" baseType="lpstr">
      <vt:lpstr>adobe-clean</vt:lpstr>
      <vt:lpstr>DunbarTall</vt:lpstr>
      <vt:lpstr>Arial</vt:lpstr>
      <vt:lpstr>Calibri</vt:lpstr>
      <vt:lpstr>Calibri Light</vt:lpstr>
      <vt:lpstr>Roboto</vt:lpstr>
      <vt:lpstr>Roboto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Rachel Williams-Rumsey</dc:creator>
  <cp:lastModifiedBy>monte monteandjanicechan.com</cp:lastModifiedBy>
  <cp:revision>73</cp:revision>
  <dcterms:created xsi:type="dcterms:W3CDTF">2023-07-17T19:55:35Z</dcterms:created>
  <dcterms:modified xsi:type="dcterms:W3CDTF">2026-10-28T15:09:14Z</dcterms:modified>
</cp:coreProperties>
</file>